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7" r:id="rId5"/>
    <p:sldId id="291" r:id="rId6"/>
    <p:sldId id="261" r:id="rId7"/>
    <p:sldId id="299" r:id="rId8"/>
    <p:sldId id="263" r:id="rId9"/>
    <p:sldId id="295" r:id="rId10"/>
    <p:sldId id="296" r:id="rId11"/>
    <p:sldId id="294" r:id="rId12"/>
    <p:sldId id="300" r:id="rId13"/>
    <p:sldId id="262" r:id="rId14"/>
    <p:sldId id="260" r:id="rId15"/>
    <p:sldId id="273" r:id="rId16"/>
    <p:sldId id="297" r:id="rId17"/>
    <p:sldId id="298" r:id="rId18"/>
    <p:sldId id="292" r:id="rId19"/>
    <p:sldId id="264" r:id="rId20"/>
    <p:sldId id="290" r:id="rId21"/>
    <p:sldId id="293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14421-DE7C-4C09-B606-72665EFDDF25}" v="41" dt="2025-11-14T05:34:37.989"/>
    <p1510:client id="{9F74C11C-EAC9-FFA6-8B0A-D1C3BD7AABB7}" v="1" dt="2025-11-13T09:05:21.460"/>
    <p1510:client id="{E5C65B3E-D81C-4B97-A66E-45097A74A463}" v="1235" dt="2025-11-13T09:37:18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3083B-35CA-4F77-A68D-A1A9A982D634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6CFA8-7F3F-4FAA-8794-3598EEB59B74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391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7E2E5ABC-8267-8307-F6BF-50CE1E3D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8E70DB90-2BAD-F9B7-D5D9-283DA6CE5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316480CA-F033-581C-5EEB-7DBF929F7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7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CF0E5704-7C30-AE3C-8A84-69AC796A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>
            <a:extLst>
              <a:ext uri="{FF2B5EF4-FFF2-40B4-BE49-F238E27FC236}">
                <a16:creationId xmlns:a16="http://schemas.microsoft.com/office/drawing/2014/main" id="{CB4128FA-A438-1DFB-213A-17CFC43EE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>
            <a:extLst>
              <a:ext uri="{FF2B5EF4-FFF2-40B4-BE49-F238E27FC236}">
                <a16:creationId xmlns:a16="http://schemas.microsoft.com/office/drawing/2014/main" id="{49399FB1-EAC4-CC7F-C130-5CB32AAEA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485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059E3754-7A96-7F41-0492-4B601B9C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>
            <a:extLst>
              <a:ext uri="{FF2B5EF4-FFF2-40B4-BE49-F238E27FC236}">
                <a16:creationId xmlns:a16="http://schemas.microsoft.com/office/drawing/2014/main" id="{E4371072-0957-47A8-D889-DDDD6C341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>
            <a:extLst>
              <a:ext uri="{FF2B5EF4-FFF2-40B4-BE49-F238E27FC236}">
                <a16:creationId xmlns:a16="http://schemas.microsoft.com/office/drawing/2014/main" id="{AEE93FE1-E649-C048-781B-E8F6E3CC3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971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C196483F-7FF4-BE09-806B-9B441D44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>
            <a:extLst>
              <a:ext uri="{FF2B5EF4-FFF2-40B4-BE49-F238E27FC236}">
                <a16:creationId xmlns:a16="http://schemas.microsoft.com/office/drawing/2014/main" id="{3FA3AD7D-B8BE-1A95-17CC-D0E68F35C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>
            <a:extLst>
              <a:ext uri="{FF2B5EF4-FFF2-40B4-BE49-F238E27FC236}">
                <a16:creationId xmlns:a16="http://schemas.microsoft.com/office/drawing/2014/main" id="{215920EF-485B-294B-E7E0-01DC20895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1392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A42B0BE0-6C00-0FE0-1316-1D701689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>
            <a:extLst>
              <a:ext uri="{FF2B5EF4-FFF2-40B4-BE49-F238E27FC236}">
                <a16:creationId xmlns:a16="http://schemas.microsoft.com/office/drawing/2014/main" id="{02B6F173-86F7-BE8C-7FCD-C3EBFF65F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>
            <a:extLst>
              <a:ext uri="{FF2B5EF4-FFF2-40B4-BE49-F238E27FC236}">
                <a16:creationId xmlns:a16="http://schemas.microsoft.com/office/drawing/2014/main" id="{17025A77-66BE-AA12-5549-7E566A2F8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480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9BFF9E3E-5BBC-25D8-1749-0D4CF47D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>
            <a:extLst>
              <a:ext uri="{FF2B5EF4-FFF2-40B4-BE49-F238E27FC236}">
                <a16:creationId xmlns:a16="http://schemas.microsoft.com/office/drawing/2014/main" id="{29CEB208-2D34-5E31-C6D7-EA9B2884B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>
            <a:extLst>
              <a:ext uri="{FF2B5EF4-FFF2-40B4-BE49-F238E27FC236}">
                <a16:creationId xmlns:a16="http://schemas.microsoft.com/office/drawing/2014/main" id="{C57F90D8-1408-F6AC-9984-BD3271593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336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60" name="Google Shape;4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27" name="Google Shape;42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722" name="Google Shape;722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>
          <a:extLst>
            <a:ext uri="{FF2B5EF4-FFF2-40B4-BE49-F238E27FC236}">
              <a16:creationId xmlns:a16="http://schemas.microsoft.com/office/drawing/2014/main" id="{A74C144B-8EB2-EAE5-D534-133BE175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>
            <a:extLst>
              <a:ext uri="{FF2B5EF4-FFF2-40B4-BE49-F238E27FC236}">
                <a16:creationId xmlns:a16="http://schemas.microsoft.com/office/drawing/2014/main" id="{0CB4B390-0223-CD62-4C50-3D384785E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722" name="Google Shape;722;gd5260bdd85_0_270:notes">
            <a:extLst>
              <a:ext uri="{FF2B5EF4-FFF2-40B4-BE49-F238E27FC236}">
                <a16:creationId xmlns:a16="http://schemas.microsoft.com/office/drawing/2014/main" id="{E19DCC65-02F8-5DC2-EBB4-37A2FCE9D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584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>
          <a:extLst>
            <a:ext uri="{FF2B5EF4-FFF2-40B4-BE49-F238E27FC236}">
              <a16:creationId xmlns:a16="http://schemas.microsoft.com/office/drawing/2014/main" id="{EE6BFD20-E889-9061-C895-510A6EB6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>
            <a:extLst>
              <a:ext uri="{FF2B5EF4-FFF2-40B4-BE49-F238E27FC236}">
                <a16:creationId xmlns:a16="http://schemas.microsoft.com/office/drawing/2014/main" id="{8476CEA1-36D3-5E52-4D08-E8F383C61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722" name="Google Shape;722;gd5260bdd85_0_270:notes">
            <a:extLst>
              <a:ext uri="{FF2B5EF4-FFF2-40B4-BE49-F238E27FC236}">
                <a16:creationId xmlns:a16="http://schemas.microsoft.com/office/drawing/2014/main" id="{AC5207B9-E8C2-D951-65F7-AC4ED0438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454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2A836740-5D98-3DF3-71F7-527F05A4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FB337C97-2446-3841-083B-3796FEE3C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FCF49334-9214-E174-0176-1D69F7343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1464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7BDA7AFF-0C13-4F08-D6FA-44D98369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22:notes">
            <a:extLst>
              <a:ext uri="{FF2B5EF4-FFF2-40B4-BE49-F238E27FC236}">
                <a16:creationId xmlns:a16="http://schemas.microsoft.com/office/drawing/2014/main" id="{EBC87ED0-41C8-EB0A-1D36-1A9B6BD27B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60" name="Google Shape;460;g54dda1946d_6_322:notes">
            <a:extLst>
              <a:ext uri="{FF2B5EF4-FFF2-40B4-BE49-F238E27FC236}">
                <a16:creationId xmlns:a16="http://schemas.microsoft.com/office/drawing/2014/main" id="{B84A5D59-675C-EB31-3F02-AE9F0578C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371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076" name="Google Shape;107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C952C3FC-580F-4DA8-12F0-140CEFD6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>
            <a:extLst>
              <a:ext uri="{FF2B5EF4-FFF2-40B4-BE49-F238E27FC236}">
                <a16:creationId xmlns:a16="http://schemas.microsoft.com/office/drawing/2014/main" id="{26FBE0B3-8085-7C0D-7CF4-F2621D352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485" name="Google Shape;485;g54dda1946d_6_332:notes">
            <a:extLst>
              <a:ext uri="{FF2B5EF4-FFF2-40B4-BE49-F238E27FC236}">
                <a16:creationId xmlns:a16="http://schemas.microsoft.com/office/drawing/2014/main" id="{78F928C1-7A35-CCB2-3B97-0449F8478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156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541333"/>
            <a:ext cx="5547600" cy="31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722133"/>
            <a:ext cx="5547600" cy="5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4998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50967" y="3179000"/>
            <a:ext cx="5792400" cy="12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1957800"/>
            <a:ext cx="16856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50967" y="4400200"/>
            <a:ext cx="5792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004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960000" y="1621001"/>
            <a:ext cx="10272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447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6740379" y="4750099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2111067" y="4750099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67403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21107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926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329731" y="-379053"/>
            <a:ext cx="12851467" cy="7824217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98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3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960000" y="2202767"/>
            <a:ext cx="5726400" cy="28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097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5723033" y="2218467"/>
            <a:ext cx="5518000" cy="2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925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150633" y="2207333"/>
            <a:ext cx="6090400" cy="1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5150633" y="3755900"/>
            <a:ext cx="60904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0633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960000" y="5256833"/>
            <a:ext cx="10272000" cy="85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164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 hasCustomPrompt="1"/>
          </p:nvPr>
        </p:nvSpPr>
        <p:spPr>
          <a:xfrm>
            <a:off x="950967" y="2365467"/>
            <a:ext cx="6234800" cy="14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1"/>
          </p:nvPr>
        </p:nvSpPr>
        <p:spPr>
          <a:xfrm>
            <a:off x="950967" y="3829700"/>
            <a:ext cx="62348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143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038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635233" y="4306000"/>
            <a:ext cx="8921600" cy="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635217" y="1821600"/>
            <a:ext cx="89216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95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713510" y="-50431"/>
            <a:ext cx="13609993" cy="7495595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4700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329731" y="-594953"/>
            <a:ext cx="12851480" cy="8040117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16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16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1867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731744" y="-779864"/>
            <a:ext cx="13655480" cy="822503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224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-635728" y="3867003"/>
            <a:ext cx="13463447" cy="3820272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39830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93444" y="-671787"/>
            <a:ext cx="12578893" cy="8201584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960000" y="1693751"/>
            <a:ext cx="5036400" cy="22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960000" y="3973084"/>
            <a:ext cx="5036400" cy="11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6829233" y="1413767"/>
            <a:ext cx="4145600" cy="41456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361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20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20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960000" y="2183400"/>
            <a:ext cx="47972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"/>
          </p:nvPr>
        </p:nvSpPr>
        <p:spPr>
          <a:xfrm>
            <a:off x="960000" y="3601000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236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2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21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6449600" y="2395133"/>
            <a:ext cx="47912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6449833" y="3254867"/>
            <a:ext cx="4791200" cy="12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9720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22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22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1"/>
          </p:nvPr>
        </p:nvSpPr>
        <p:spPr>
          <a:xfrm>
            <a:off x="960000" y="1620989"/>
            <a:ext cx="10272000" cy="13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6235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713510" y="-50431"/>
            <a:ext cx="13609993" cy="7495595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23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23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960000" y="1620999"/>
            <a:ext cx="10272000" cy="41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4379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413964" y="4667636"/>
            <a:ext cx="13019933" cy="3103939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6428108" y="3710633"/>
            <a:ext cx="37920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971933" y="3710633"/>
            <a:ext cx="37920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971933" y="3160833"/>
            <a:ext cx="3792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6428121" y="3160833"/>
            <a:ext cx="3792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86821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873727" y="4582114"/>
            <a:ext cx="13939460" cy="3081628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6195000" y="2223500"/>
            <a:ext cx="4531200" cy="25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465784" y="2223500"/>
            <a:ext cx="4531200" cy="25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8247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682714" y="-477364"/>
            <a:ext cx="13559217" cy="7906872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1174967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4570600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7966267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1174967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4570605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7966267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83295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692611" y="3566280"/>
            <a:ext cx="13632280" cy="3659917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523933" y="2958751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6332455" y="2958751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523933" y="5347084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6332455" y="5347084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523949" y="2480784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523949" y="4869251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6332451" y="2480784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6332451" y="4869251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66615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355297" y="4455197"/>
            <a:ext cx="12902613" cy="3095895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28"/>
            <p:cNvSpPr/>
            <p:nvPr/>
          </p:nvSpPr>
          <p:spPr>
            <a:xfrm rot="10800000" flipH="1">
              <a:off x="-266473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28"/>
            <p:cNvSpPr/>
            <p:nvPr/>
          </p:nvSpPr>
          <p:spPr>
            <a:xfrm rot="10800000" flipH="1">
              <a:off x="-151033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1291365" y="2980817"/>
            <a:ext cx="30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4585417" y="298081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3"/>
          </p:nvPr>
        </p:nvSpPr>
        <p:spPr>
          <a:xfrm>
            <a:off x="1291365" y="5289767"/>
            <a:ext cx="30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4"/>
          </p:nvPr>
        </p:nvSpPr>
        <p:spPr>
          <a:xfrm>
            <a:off x="4585417" y="528976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5"/>
          </p:nvPr>
        </p:nvSpPr>
        <p:spPr>
          <a:xfrm>
            <a:off x="7879167" y="298081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7879167" y="528976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7"/>
          </p:nvPr>
        </p:nvSpPr>
        <p:spPr>
          <a:xfrm>
            <a:off x="1291365" y="2520184"/>
            <a:ext cx="302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ubTitle" idx="8"/>
          </p:nvPr>
        </p:nvSpPr>
        <p:spPr>
          <a:xfrm>
            <a:off x="4585417" y="2520184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7879167" y="2520184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13"/>
          </p:nvPr>
        </p:nvSpPr>
        <p:spPr>
          <a:xfrm>
            <a:off x="1291365" y="4829100"/>
            <a:ext cx="302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14"/>
          </p:nvPr>
        </p:nvSpPr>
        <p:spPr>
          <a:xfrm>
            <a:off x="4585417" y="4829100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5"/>
          </p:nvPr>
        </p:nvSpPr>
        <p:spPr>
          <a:xfrm>
            <a:off x="7879167" y="4829100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53986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 hasCustomPrompt="1"/>
          </p:nvPr>
        </p:nvSpPr>
        <p:spPr>
          <a:xfrm>
            <a:off x="5802633" y="851133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5802633" y="1769700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title" idx="2" hasCustomPrompt="1"/>
          </p:nvPr>
        </p:nvSpPr>
        <p:spPr>
          <a:xfrm>
            <a:off x="5802633" y="2654149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5802633" y="3572705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title" idx="4" hasCustomPrompt="1"/>
          </p:nvPr>
        </p:nvSpPr>
        <p:spPr>
          <a:xfrm>
            <a:off x="5802633" y="4457165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>
            <a:spLocks noGrp="1"/>
          </p:cNvSpPr>
          <p:nvPr>
            <p:ph type="subTitle" idx="5"/>
          </p:nvPr>
        </p:nvSpPr>
        <p:spPr>
          <a:xfrm>
            <a:off x="5802633" y="5375732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04481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950967" y="903367"/>
            <a:ext cx="6792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1"/>
          </p:nvPr>
        </p:nvSpPr>
        <p:spPr>
          <a:xfrm>
            <a:off x="950967" y="2455267"/>
            <a:ext cx="6792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950967" y="4815933"/>
            <a:ext cx="6792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4110402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329731" y="-594953"/>
            <a:ext cx="12851480" cy="8040117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427877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635728" y="3867003"/>
            <a:ext cx="13463447" cy="3820272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2208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62527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950967" y="1541333"/>
            <a:ext cx="6912508" cy="3180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noProof="0"/>
              <a:t>Kalman Filtering approach for a differential drive robot</a:t>
            </a:r>
            <a:br>
              <a:rPr lang="en-US" sz="4400" b="1" noProof="0"/>
            </a:br>
            <a:r>
              <a:rPr lang="en-US" sz="2800" noProof="0"/>
              <a:t>Robotics Project</a:t>
            </a:r>
            <a:endParaRPr lang="en-US" sz="6000" noProof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950967" y="4722133"/>
            <a:ext cx="5547600" cy="56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noProof="0"/>
              <a:t>Jeremy Hendrikse &amp; Julius Ortstadt</a:t>
            </a:r>
          </a:p>
          <a:p>
            <a:pPr marL="0" indent="0"/>
            <a:r>
              <a:rPr lang="en-US" noProof="0"/>
              <a:t>ROBO5</a:t>
            </a:r>
          </a:p>
        </p:txBody>
      </p:sp>
      <p:cxnSp>
        <p:nvCxnSpPr>
          <p:cNvPr id="346" name="Google Shape;346;p36"/>
          <p:cNvCxnSpPr/>
          <p:nvPr/>
        </p:nvCxnSpPr>
        <p:spPr>
          <a:xfrm>
            <a:off x="1097900" y="1316284"/>
            <a:ext cx="498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6820450" y="-571498"/>
            <a:ext cx="5700157" cy="8600540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US" sz="1867" kern="0" noProof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5A8E20DC-3670-B43C-AFE6-E8D2B8DB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C13DDC81-418E-7F17-D9E5-7ABD68627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2556388"/>
            <a:ext cx="5792400" cy="325447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noProof="0"/>
              <a:t>Project overview and strategy</a:t>
            </a:r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7A1E971E-EBF0-B4CE-8CD5-00664A655627}"/>
              </a:ext>
            </a:extLst>
          </p:cNvPr>
          <p:cNvGrpSpPr/>
          <p:nvPr/>
        </p:nvGrpSpPr>
        <p:grpSpPr>
          <a:xfrm>
            <a:off x="6806507" y="-204495"/>
            <a:ext cx="5624784" cy="8000769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C2E015AF-52B7-E122-F097-CE2109DE3FC0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AE35D9CB-A4EF-2D8B-89C3-F0AFC4876674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62CA1DA9-2C05-4906-583B-4BA3C11100D9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4D078265-F72A-328F-733F-F3C6579D66E2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D79AB199-5882-9737-4B00-9AEB21EB28CD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56FDE418-9DDD-3A0E-4DF6-3203AFF13718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A24A6BC0-0EEB-BC5F-1BFE-03163E936B0A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B752CB9D-B3D8-AF94-CD00-371A232CBD0D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BC6090E4-2F58-655A-4969-B9CB299D135A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E03C572F-F958-F9B0-5A7D-36148B7E4941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A4F76C76-A978-5CDA-6E3D-9CC63BFCEC42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36D45F9E-FFEC-5863-FEFF-B637A0A7173A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076972B8-C588-0AA9-7C8A-96916EC0DDFD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608012FF-FEC6-911D-693A-0E3CD9D98E7F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924D6719-3985-58E2-52D4-A92DF3A7E26D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7FF1E4BA-98E8-0F8B-CAAA-D08D16D2C422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DC07BBB8-ECBE-439A-7463-D50A5C87A470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D588247C-4F9E-69EE-374B-94B6459D7C53}"/>
              </a:ext>
            </a:extLst>
          </p:cNvPr>
          <p:cNvCxnSpPr/>
          <p:nvPr/>
        </p:nvCxnSpPr>
        <p:spPr>
          <a:xfrm>
            <a:off x="1121667" y="1847800"/>
            <a:ext cx="498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417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Grabby: a warehouse robot</a:t>
            </a: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5573577" y="4420852"/>
            <a:ext cx="5658424" cy="1636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buFontTx/>
              <a:buChar char="-"/>
            </a:pPr>
            <a:r>
              <a:rPr lang="en-US" noProof="0"/>
              <a:t>Robot pose estimation using a Kalman Filter.</a:t>
            </a:r>
          </a:p>
          <a:p>
            <a:pPr marL="342900" indent="-342900">
              <a:buFontTx/>
              <a:buChar char="-"/>
            </a:pPr>
            <a:r>
              <a:rPr lang="en-US" noProof="0"/>
              <a:t>Estimation based on IMU and encoder data.</a:t>
            </a:r>
          </a:p>
          <a:p>
            <a:pPr marL="342900" indent="-342900">
              <a:buFontTx/>
              <a:buChar char="-"/>
            </a:pPr>
            <a:r>
              <a:rPr lang="en-US" noProof="0"/>
              <a:t>Used in the SLAM algorithm for localization and path planning.</a:t>
            </a:r>
          </a:p>
        </p:txBody>
      </p:sp>
      <p:sp>
        <p:nvSpPr>
          <p:cNvPr id="2" name="Google Shape;457;p41">
            <a:extLst>
              <a:ext uri="{FF2B5EF4-FFF2-40B4-BE49-F238E27FC236}">
                <a16:creationId xmlns:a16="http://schemas.microsoft.com/office/drawing/2014/main" id="{328CC3E7-95E8-4793-E30F-B4E718244EA0}"/>
              </a:ext>
            </a:extLst>
          </p:cNvPr>
          <p:cNvSpPr txBox="1">
            <a:spLocks/>
          </p:cNvSpPr>
          <p:nvPr/>
        </p:nvSpPr>
        <p:spPr>
          <a:xfrm>
            <a:off x="1113811" y="1356967"/>
            <a:ext cx="6098844" cy="207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342900" indent="-342900">
              <a:buFontTx/>
              <a:buChar char="-"/>
            </a:pPr>
            <a:r>
              <a:rPr lang="en-US" kern="0" noProof="0"/>
              <a:t>Autonomous warehouse robot.</a:t>
            </a:r>
          </a:p>
          <a:p>
            <a:pPr marL="342900" indent="-342900">
              <a:buFontTx/>
              <a:buChar char="-"/>
            </a:pPr>
            <a:r>
              <a:rPr lang="en-US" kern="0" noProof="0"/>
              <a:t>Differential drive propulsion method.</a:t>
            </a:r>
          </a:p>
          <a:p>
            <a:pPr marL="342900" indent="-342900">
              <a:buFontTx/>
              <a:buChar char="-"/>
            </a:pPr>
            <a:r>
              <a:rPr lang="en-US" kern="0" noProof="0"/>
              <a:t>SLAM-based navigation.</a:t>
            </a:r>
          </a:p>
          <a:p>
            <a:pPr marL="342900" indent="-342900">
              <a:buFontTx/>
              <a:buChar char="-"/>
            </a:pPr>
            <a:r>
              <a:rPr lang="en-US" kern="0" noProof="0"/>
              <a:t>Major improvements from V2 to V4 (ROS version, modular building approach, better sensors).</a:t>
            </a:r>
          </a:p>
          <a:p>
            <a:pPr marL="342900" indent="-342900">
              <a:buFontTx/>
              <a:buChar char="-"/>
            </a:pPr>
            <a:endParaRPr lang="en-US" kern="0" noProof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805BCAB-3605-89EB-7CEB-4DA16A3B8C67}"/>
              </a:ext>
            </a:extLst>
          </p:cNvPr>
          <p:cNvGrpSpPr/>
          <p:nvPr/>
        </p:nvGrpSpPr>
        <p:grpSpPr>
          <a:xfrm>
            <a:off x="1113811" y="3537152"/>
            <a:ext cx="3978041" cy="2932471"/>
            <a:chOff x="1113811" y="3429000"/>
            <a:chExt cx="3978041" cy="2932471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648225CA-C7CC-7035-ACC7-A46EFCFD5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3811" y="3429000"/>
              <a:ext cx="3978041" cy="2520000"/>
            </a:xfrm>
            <a:prstGeom prst="rect">
              <a:avLst/>
            </a:prstGeom>
          </p:spPr>
        </p:pic>
        <p:sp>
          <p:nvSpPr>
            <p:cNvPr id="7" name="Google Shape;457;p41">
              <a:extLst>
                <a:ext uri="{FF2B5EF4-FFF2-40B4-BE49-F238E27FC236}">
                  <a16:creationId xmlns:a16="http://schemas.microsoft.com/office/drawing/2014/main" id="{A1C889E0-916C-F273-FE30-D8A906570537}"/>
                </a:ext>
              </a:extLst>
            </p:cNvPr>
            <p:cNvSpPr txBox="1">
              <a:spLocks/>
            </p:cNvSpPr>
            <p:nvPr/>
          </p:nvSpPr>
          <p:spPr>
            <a:xfrm>
              <a:off x="1113811" y="5949000"/>
              <a:ext cx="3978041" cy="41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 algn="ctr"/>
              <a:r>
                <a:rPr lang="en-US" sz="1400" b="1" kern="0" noProof="0"/>
                <a:t>Grabby V2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B448C7C-6E12-793A-A15C-641FAAB030CF}"/>
              </a:ext>
            </a:extLst>
          </p:cNvPr>
          <p:cNvGrpSpPr/>
          <p:nvPr/>
        </p:nvGrpSpPr>
        <p:grpSpPr>
          <a:xfrm>
            <a:off x="7212657" y="1369367"/>
            <a:ext cx="4459765" cy="2932471"/>
            <a:chOff x="7212657" y="1369367"/>
            <a:chExt cx="4459765" cy="2932471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4F06264B-B52E-7FD9-4B5A-7A109C07F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2657" y="1369367"/>
              <a:ext cx="4459765" cy="2520000"/>
            </a:xfrm>
            <a:prstGeom prst="rect">
              <a:avLst/>
            </a:prstGeom>
          </p:spPr>
        </p:pic>
        <p:sp>
          <p:nvSpPr>
            <p:cNvPr id="8" name="Google Shape;457;p41">
              <a:extLst>
                <a:ext uri="{FF2B5EF4-FFF2-40B4-BE49-F238E27FC236}">
                  <a16:creationId xmlns:a16="http://schemas.microsoft.com/office/drawing/2014/main" id="{76494FD0-03C9-1C27-E99F-3699B5B39D39}"/>
                </a:ext>
              </a:extLst>
            </p:cNvPr>
            <p:cNvSpPr txBox="1">
              <a:spLocks/>
            </p:cNvSpPr>
            <p:nvPr/>
          </p:nvSpPr>
          <p:spPr>
            <a:xfrm>
              <a:off x="7212658" y="3889367"/>
              <a:ext cx="4459764" cy="41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 algn="ctr"/>
              <a:r>
                <a:rPr lang="en-US" sz="1400" b="1" kern="0" noProof="0"/>
                <a:t>Grabby V4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>
          <a:extLst>
            <a:ext uri="{FF2B5EF4-FFF2-40B4-BE49-F238E27FC236}">
              <a16:creationId xmlns:a16="http://schemas.microsoft.com/office/drawing/2014/main" id="{B299DD78-C895-BE66-C1D2-5070DD7D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>
            <a:extLst>
              <a:ext uri="{FF2B5EF4-FFF2-40B4-BE49-F238E27FC236}">
                <a16:creationId xmlns:a16="http://schemas.microsoft.com/office/drawing/2014/main" id="{D149B39D-834E-AE9E-5F44-3839EC49F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11532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Problem statement</a:t>
            </a:r>
          </a:p>
        </p:txBody>
      </p:sp>
      <p:pic>
        <p:nvPicPr>
          <p:cNvPr id="6" name="Grafik 5" descr="Ein Bild, das Diagramm, Kinderkunst, Kreis, Design enthält.&#10;&#10;KI-generierte Inhalte können fehlerhaft sein.">
            <a:extLst>
              <a:ext uri="{FF2B5EF4-FFF2-40B4-BE49-F238E27FC236}">
                <a16:creationId xmlns:a16="http://schemas.microsoft.com/office/drawing/2014/main" id="{F6B881F4-E5A8-70FC-6AFD-B333F237C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389" y="975132"/>
            <a:ext cx="9269222" cy="543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4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0" y="593367"/>
            <a:ext cx="1219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Problem statement</a:t>
            </a:r>
          </a:p>
        </p:txBody>
      </p:sp>
      <p:sp>
        <p:nvSpPr>
          <p:cNvPr id="2" name="Google Shape;489;p43">
            <a:extLst>
              <a:ext uri="{FF2B5EF4-FFF2-40B4-BE49-F238E27FC236}">
                <a16:creationId xmlns:a16="http://schemas.microsoft.com/office/drawing/2014/main" id="{6A547FEA-F989-BC47-BAD9-0B75EA60F498}"/>
              </a:ext>
            </a:extLst>
          </p:cNvPr>
          <p:cNvSpPr txBox="1">
            <a:spLocks/>
          </p:cNvSpPr>
          <p:nvPr/>
        </p:nvSpPr>
        <p:spPr>
          <a:xfrm>
            <a:off x="216875" y="1356966"/>
            <a:ext cx="3792000" cy="340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US" kern="0" noProof="0"/>
              <a:t>Relevant available sensors:</a:t>
            </a:r>
          </a:p>
          <a:p>
            <a:pPr marL="800100" lvl="1" indent="-342900" algn="l">
              <a:buFontTx/>
              <a:buChar char="-"/>
            </a:pPr>
            <a:r>
              <a:rPr lang="en-US" kern="0" noProof="0"/>
              <a:t>2D LiDAR</a:t>
            </a:r>
          </a:p>
          <a:p>
            <a:pPr marL="800100" lvl="1" indent="-342900" algn="l">
              <a:buFontTx/>
              <a:buChar char="-"/>
            </a:pPr>
            <a:r>
              <a:rPr lang="en-US" kern="0" noProof="0"/>
              <a:t>Motor encoders</a:t>
            </a:r>
          </a:p>
          <a:p>
            <a:pPr marL="800100" lvl="1" indent="-342900" algn="l">
              <a:buFontTx/>
              <a:buChar char="-"/>
            </a:pPr>
            <a:r>
              <a:rPr lang="en-US" kern="0" noProof="0"/>
              <a:t>Inertial Measurement Unit (IMU)</a:t>
            </a:r>
          </a:p>
          <a:p>
            <a:pPr marL="457200" lvl="1" indent="0" algn="l"/>
            <a:endParaRPr lang="en-US" kern="0" noProof="0"/>
          </a:p>
          <a:p>
            <a:pPr marL="342900" indent="-342900" algn="l">
              <a:buFontTx/>
              <a:buChar char="-"/>
            </a:pPr>
            <a:r>
              <a:rPr lang="en-US" kern="0" noProof="0"/>
              <a:t>Algorithms:</a:t>
            </a:r>
          </a:p>
          <a:p>
            <a:pPr marL="800100" lvl="1" indent="-342900" algn="l">
              <a:buFontTx/>
              <a:buChar char="-"/>
            </a:pPr>
            <a:r>
              <a:rPr lang="en-US" kern="0" noProof="0"/>
              <a:t>ROS </a:t>
            </a:r>
            <a:r>
              <a:rPr lang="en-US" kern="0" noProof="0" err="1"/>
              <a:t>Navstack</a:t>
            </a:r>
            <a:endParaRPr lang="en-US" kern="0" noProof="0"/>
          </a:p>
          <a:p>
            <a:pPr marL="800100" lvl="1" indent="-342900" algn="l">
              <a:buFontTx/>
              <a:buChar char="-"/>
            </a:pPr>
            <a:r>
              <a:rPr lang="en-US" kern="0" noProof="0"/>
              <a:t>AMCL (Advanced Monte Carlo Localization)</a:t>
            </a:r>
          </a:p>
          <a:p>
            <a:pPr marL="800100" lvl="1" indent="-342900" algn="l">
              <a:buFontTx/>
              <a:buChar char="-"/>
            </a:pPr>
            <a:r>
              <a:rPr lang="en-US" kern="0" noProof="0"/>
              <a:t>Google Cartographer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9075098-C8E0-EC95-E715-BF837566C234}"/>
              </a:ext>
            </a:extLst>
          </p:cNvPr>
          <p:cNvCxnSpPr/>
          <p:nvPr/>
        </p:nvCxnSpPr>
        <p:spPr>
          <a:xfrm>
            <a:off x="4008875" y="1378974"/>
            <a:ext cx="0" cy="4100052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DF673D1-186B-98A2-28D2-11C79D290D30}"/>
              </a:ext>
            </a:extLst>
          </p:cNvPr>
          <p:cNvSpPr txBox="1"/>
          <p:nvPr/>
        </p:nvSpPr>
        <p:spPr>
          <a:xfrm>
            <a:off x="4215352" y="1479825"/>
            <a:ext cx="3721509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The SLAM algorithm needs a pose estimate of the robot.</a:t>
            </a:r>
          </a:p>
          <a:p>
            <a:endParaRPr lang="en-US" sz="1867" kern="0" noProof="0">
              <a:solidFill>
                <a:schemeClr val="dk1"/>
              </a:solidFill>
              <a:latin typeface="DM Sans"/>
              <a:sym typeface="DM Sans"/>
            </a:endParaRPr>
          </a:p>
          <a:p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There are two stages:</a:t>
            </a:r>
          </a:p>
          <a:p>
            <a:endParaRPr lang="en-US" sz="1867" kern="0" noProof="0">
              <a:solidFill>
                <a:schemeClr val="dk1"/>
              </a:solidFill>
              <a:latin typeface="DM Sans"/>
              <a:sym typeface="DM Sans"/>
            </a:endParaRPr>
          </a:p>
          <a:p>
            <a:pPr marL="285750" indent="-285750">
              <a:buFontTx/>
              <a:buChar char="-"/>
            </a:pPr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Stage 1: Estimate based on odometry</a:t>
            </a:r>
          </a:p>
          <a:p>
            <a:pPr marL="285750" indent="-285750">
              <a:buFontTx/>
              <a:buChar char="-"/>
            </a:pPr>
            <a:endParaRPr lang="en-US" sz="1867" kern="0" noProof="0">
              <a:solidFill>
                <a:schemeClr val="dk1"/>
              </a:solidFill>
              <a:latin typeface="DM Sans"/>
              <a:sym typeface="DM Sans"/>
            </a:endParaRPr>
          </a:p>
          <a:p>
            <a:pPr marL="285750" indent="-285750">
              <a:buFontTx/>
              <a:buChar char="-"/>
            </a:pPr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Stage 2: Estimate from stage 1 combined with LiDAR data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7253740-6B40-02C1-77FE-63DD0F654178}"/>
              </a:ext>
            </a:extLst>
          </p:cNvPr>
          <p:cNvCxnSpPr>
            <a:cxnSpLocks/>
          </p:cNvCxnSpPr>
          <p:nvPr/>
        </p:nvCxnSpPr>
        <p:spPr>
          <a:xfrm>
            <a:off x="8143339" y="1378974"/>
            <a:ext cx="0" cy="4100052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8F42D550-5570-B2E7-2F2E-12D368910B34}"/>
              </a:ext>
            </a:extLst>
          </p:cNvPr>
          <p:cNvSpPr txBox="1"/>
          <p:nvPr/>
        </p:nvSpPr>
        <p:spPr>
          <a:xfrm>
            <a:off x="8349816" y="1479825"/>
            <a:ext cx="3517720" cy="2390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Potential error sources include:</a:t>
            </a:r>
          </a:p>
          <a:p>
            <a:endParaRPr lang="en-US" sz="1867" kern="0" noProof="0">
              <a:solidFill>
                <a:schemeClr val="dk1"/>
              </a:solidFill>
              <a:latin typeface="DM Sans"/>
              <a:sym typeface="DM Sans"/>
            </a:endParaRPr>
          </a:p>
          <a:p>
            <a:pPr marL="342900" indent="-342900">
              <a:buFontTx/>
              <a:buChar char="-"/>
            </a:pPr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Wheel slip</a:t>
            </a:r>
          </a:p>
          <a:p>
            <a:pPr marL="342900" indent="-342900">
              <a:buFontTx/>
              <a:buChar char="-"/>
            </a:pPr>
            <a:endParaRPr lang="en-US" sz="1867" kern="0" noProof="0">
              <a:solidFill>
                <a:schemeClr val="dk1"/>
              </a:solidFill>
              <a:latin typeface="DM Sans"/>
              <a:sym typeface="DM Sans"/>
            </a:endParaRPr>
          </a:p>
          <a:p>
            <a:pPr marL="342900" indent="-342900">
              <a:buFontTx/>
              <a:buChar char="-"/>
            </a:pPr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Sensor noise</a:t>
            </a:r>
          </a:p>
          <a:p>
            <a:pPr marL="342900" indent="-342900">
              <a:buFontTx/>
              <a:buChar char="-"/>
            </a:pPr>
            <a:endParaRPr lang="en-US" sz="1867" kern="0" noProof="0">
              <a:solidFill>
                <a:schemeClr val="dk1"/>
              </a:solidFill>
              <a:latin typeface="DM Sans"/>
              <a:sym typeface="DM Sans"/>
            </a:endParaRPr>
          </a:p>
          <a:p>
            <a:pPr marL="342900" indent="-342900">
              <a:buFontTx/>
              <a:buChar char="-"/>
            </a:pPr>
            <a:r>
              <a:rPr lang="en-US" sz="1867" kern="0" noProof="0">
                <a:solidFill>
                  <a:schemeClr val="dk1"/>
                </a:solidFill>
                <a:latin typeface="DM Sans"/>
                <a:sym typeface="DM Sans"/>
              </a:rPr>
              <a:t>IMU bias and drift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>
          <a:extLst>
            <a:ext uri="{FF2B5EF4-FFF2-40B4-BE49-F238E27FC236}">
              <a16:creationId xmlns:a16="http://schemas.microsoft.com/office/drawing/2014/main" id="{D4F2BB37-2DA2-E5E3-8998-98DF26D6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>
            <a:extLst>
              <a:ext uri="{FF2B5EF4-FFF2-40B4-BE49-F238E27FC236}">
                <a16:creationId xmlns:a16="http://schemas.microsoft.com/office/drawing/2014/main" id="{3305145C-2116-13E2-2A39-E3A06D487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67224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Robot control flow chart</a:t>
            </a:r>
          </a:p>
        </p:txBody>
      </p:sp>
      <p:sp>
        <p:nvSpPr>
          <p:cNvPr id="489" name="Google Shape;489;p43">
            <a:extLst>
              <a:ext uri="{FF2B5EF4-FFF2-40B4-BE49-F238E27FC236}">
                <a16:creationId xmlns:a16="http://schemas.microsoft.com/office/drawing/2014/main" id="{BFB6645E-BEA2-13A4-CB82-D074350CC3F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59044" y="1130824"/>
            <a:ext cx="10873912" cy="7635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en-US" noProof="0"/>
              <a:t>The IMU data is used during the measurement update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The generated torque on each wheel is used as a system input during the prediction step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A7D0BF4-7EC3-8639-AE14-99638B50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8" t="8035" r="4303" b="9783"/>
          <a:stretch>
            <a:fillRect/>
          </a:stretch>
        </p:blipFill>
        <p:spPr>
          <a:xfrm>
            <a:off x="1671637" y="2037990"/>
            <a:ext cx="8848725" cy="40005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452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>
          <a:extLst>
            <a:ext uri="{FF2B5EF4-FFF2-40B4-BE49-F238E27FC236}">
              <a16:creationId xmlns:a16="http://schemas.microsoft.com/office/drawing/2014/main" id="{87DBE3AE-4836-FD39-B114-6DCD8849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>
            <a:extLst>
              <a:ext uri="{FF2B5EF4-FFF2-40B4-BE49-F238E27FC236}">
                <a16:creationId xmlns:a16="http://schemas.microsoft.com/office/drawing/2014/main" id="{F7745446-9EB8-5171-561F-D6A0B5BE36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18063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Data generation for simulation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F6E8DB4-3F38-9DEC-9A51-5F355F9490FB}"/>
              </a:ext>
            </a:extLst>
          </p:cNvPr>
          <p:cNvGrpSpPr/>
          <p:nvPr/>
        </p:nvGrpSpPr>
        <p:grpSpPr>
          <a:xfrm>
            <a:off x="2250617" y="1081663"/>
            <a:ext cx="7690766" cy="1117121"/>
            <a:chOff x="1186858" y="3429000"/>
            <a:chExt cx="7690766" cy="1117121"/>
          </a:xfrm>
        </p:grpSpPr>
        <p:sp>
          <p:nvSpPr>
            <p:cNvPr id="2" name="Google Shape;489;p43">
              <a:extLst>
                <a:ext uri="{FF2B5EF4-FFF2-40B4-BE49-F238E27FC236}">
                  <a16:creationId xmlns:a16="http://schemas.microsoft.com/office/drawing/2014/main" id="{483BD108-4AD9-6C6B-A261-49A81BD4E4D4}"/>
                </a:ext>
              </a:extLst>
            </p:cNvPr>
            <p:cNvSpPr txBox="1">
              <a:spLocks/>
            </p:cNvSpPr>
            <p:nvPr/>
          </p:nvSpPr>
          <p:spPr>
            <a:xfrm>
              <a:off x="1186858" y="3429000"/>
              <a:ext cx="7690766" cy="11171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 kern="0" noProof="0"/>
                <a:t>To generate near real-world data</a:t>
              </a:r>
            </a:p>
            <a:p>
              <a:pPr marL="0" indent="0"/>
              <a:endParaRPr lang="en-US" kern="0" noProof="0"/>
            </a:p>
            <a:p>
              <a:pPr marL="0" indent="0"/>
              <a:r>
                <a:rPr lang="en-US" kern="0" noProof="0"/>
                <a:t>Full modeling of the system</a:t>
              </a:r>
            </a:p>
          </p:txBody>
        </p:sp>
        <p:sp>
          <p:nvSpPr>
            <p:cNvPr id="3" name="Flèche : bas 2">
              <a:extLst>
                <a:ext uri="{FF2B5EF4-FFF2-40B4-BE49-F238E27FC236}">
                  <a16:creationId xmlns:a16="http://schemas.microsoft.com/office/drawing/2014/main" id="{C5FA0276-2394-5DEC-BBAC-B4EEE667A8C5}"/>
                </a:ext>
              </a:extLst>
            </p:cNvPr>
            <p:cNvSpPr/>
            <p:nvPr/>
          </p:nvSpPr>
          <p:spPr>
            <a:xfrm>
              <a:off x="5032241" y="3992195"/>
              <a:ext cx="45719" cy="20703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4B84B234-5444-F1D9-22EC-127EB1D57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80"/>
          <a:stretch>
            <a:fillRect/>
          </a:stretch>
        </p:blipFill>
        <p:spPr>
          <a:xfrm>
            <a:off x="1485869" y="2393777"/>
            <a:ext cx="9220262" cy="379054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049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>
          <a:extLst>
            <a:ext uri="{FF2B5EF4-FFF2-40B4-BE49-F238E27FC236}">
              <a16:creationId xmlns:a16="http://schemas.microsoft.com/office/drawing/2014/main" id="{7C30C772-E6C9-39F8-F5CC-3B9D31CD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>
            <a:extLst>
              <a:ext uri="{FF2B5EF4-FFF2-40B4-BE49-F238E27FC236}">
                <a16:creationId xmlns:a16="http://schemas.microsoft.com/office/drawing/2014/main" id="{B2E72ADE-EFD7-9231-02A8-11F83DDF9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A model to describe the robot</a:t>
            </a:r>
          </a:p>
        </p:txBody>
      </p:sp>
      <p:sp>
        <p:nvSpPr>
          <p:cNvPr id="489" name="Google Shape;489;p43">
            <a:extLst>
              <a:ext uri="{FF2B5EF4-FFF2-40B4-BE49-F238E27FC236}">
                <a16:creationId xmlns:a16="http://schemas.microsoft.com/office/drawing/2014/main" id="{24901817-0D19-2694-49AC-BF0B5A8986D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60000" y="2027961"/>
            <a:ext cx="3792000" cy="28020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en-US" noProof="0"/>
              <a:t>Pose estimation requires:</a:t>
            </a:r>
          </a:p>
          <a:p>
            <a:pPr marL="800100" lvl="1" indent="-342900" algn="l">
              <a:buFontTx/>
              <a:buChar char="-"/>
            </a:pPr>
            <a:r>
              <a:rPr lang="en-US"/>
              <a:t>Linear velocity</a:t>
            </a:r>
          </a:p>
          <a:p>
            <a:pPr marL="800100" lvl="1" indent="-342900" algn="l">
              <a:buFontTx/>
              <a:buChar char="-"/>
            </a:pPr>
            <a:r>
              <a:rPr lang="en-US" noProof="0"/>
              <a:t>Heading (yaw angle)</a:t>
            </a:r>
          </a:p>
          <a:p>
            <a:pPr marL="800100" lvl="1" indent="-342900" algn="l">
              <a:buFontTx/>
              <a:buChar char="-"/>
            </a:pPr>
            <a:r>
              <a:rPr lang="en-US" noProof="0"/>
              <a:t>Angular velocity (yaw rate)</a:t>
            </a:r>
          </a:p>
          <a:p>
            <a:pPr marL="800100" lvl="1" indent="-342900" algn="l">
              <a:buFontTx/>
              <a:buChar char="-"/>
            </a:pPr>
            <a:endParaRPr lang="en-US" noProof="0"/>
          </a:p>
          <a:p>
            <a:pPr marL="342900" indent="-342900" algn="l">
              <a:buFontTx/>
              <a:buChar char="-"/>
            </a:pPr>
            <a:r>
              <a:rPr lang="en-US" noProof="0"/>
              <a:t>Both dynamic and kinematic modelling of the robot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CC9424E-C4DD-FC09-AA03-A102C16D7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955" y="1505546"/>
            <a:ext cx="6200497" cy="362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3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>
          <a:extLst>
            <a:ext uri="{FF2B5EF4-FFF2-40B4-BE49-F238E27FC236}">
              <a16:creationId xmlns:a16="http://schemas.microsoft.com/office/drawing/2014/main" id="{B065FACD-EA29-1118-9984-9A5C7670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>
            <a:extLst>
              <a:ext uri="{FF2B5EF4-FFF2-40B4-BE49-F238E27FC236}">
                <a16:creationId xmlns:a16="http://schemas.microsoft.com/office/drawing/2014/main" id="{62FDD117-04EA-9C08-64D0-7C0BD27B5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A model to describe the robot</a:t>
            </a:r>
          </a:p>
        </p:txBody>
      </p:sp>
      <p:sp>
        <p:nvSpPr>
          <p:cNvPr id="489" name="Google Shape;489;p43">
            <a:extLst>
              <a:ext uri="{FF2B5EF4-FFF2-40B4-BE49-F238E27FC236}">
                <a16:creationId xmlns:a16="http://schemas.microsoft.com/office/drawing/2014/main" id="{B7F457E9-927B-F57A-4F4A-15878124D8E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187955" y="1644686"/>
            <a:ext cx="1669858" cy="5539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noProof="0"/>
              <a:t>State vector</a:t>
            </a:r>
          </a:p>
          <a:p>
            <a:pPr marL="342900" indent="-342900" algn="l">
              <a:buFontTx/>
              <a:buChar char="-"/>
            </a:pPr>
            <a:endParaRPr lang="en-US" noProof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551B107-F48B-5DD2-97AD-2CC56FFCCDE5}"/>
                  </a:ext>
                </a:extLst>
              </p:cNvPr>
              <p:cNvSpPr txBox="1"/>
              <p:nvPr/>
            </p:nvSpPr>
            <p:spPr>
              <a:xfrm>
                <a:off x="9474736" y="2198619"/>
                <a:ext cx="1096296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acc>
                                <m:accPr>
                                  <m:chr m:val="̇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de-DE"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551B107-F48B-5DD2-97AD-2CC56FFC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6" y="2198619"/>
                <a:ext cx="1096296" cy="972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7717C98-6E48-B20D-507F-FA3F16B46198}"/>
              </a:ext>
            </a:extLst>
          </p:cNvPr>
          <p:cNvGrpSpPr/>
          <p:nvPr/>
        </p:nvGrpSpPr>
        <p:grpSpPr>
          <a:xfrm>
            <a:off x="2590800" y="4177888"/>
            <a:ext cx="7010400" cy="2065244"/>
            <a:chOff x="4044618" y="1639059"/>
            <a:chExt cx="7010400" cy="20652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25619B5E-D22F-C910-0DD6-15F9D036E726}"/>
                    </a:ext>
                  </a:extLst>
                </p:cNvPr>
                <p:cNvSpPr txBox="1"/>
                <p:nvPr/>
              </p:nvSpPr>
              <p:spPr>
                <a:xfrm>
                  <a:off x="4044618" y="2192992"/>
                  <a:ext cx="7010400" cy="15113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de-DE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𝐹𝑋</m:t>
                        </m:r>
                        <m:r>
                          <a:rPr lang="de-D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𝐺𝑈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acc>
                                  <m:accPr>
                                    <m:chr m:val="̇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̈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𝑚𝑟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sSup>
                                        <m:s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𝐽𝑟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acc>
                                  <m:accPr>
                                    <m:chr m:val="̇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𝑚𝑟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𝑚𝑟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𝐽𝑟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𝐽𝑟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/>
                </a:p>
              </p:txBody>
            </p:sp>
          </mc:Choice>
          <mc:Fallback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25619B5E-D22F-C910-0DD6-15F9D036E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618" y="2192992"/>
                  <a:ext cx="7010400" cy="15113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Google Shape;489;p43">
              <a:extLst>
                <a:ext uri="{FF2B5EF4-FFF2-40B4-BE49-F238E27FC236}">
                  <a16:creationId xmlns:a16="http://schemas.microsoft.com/office/drawing/2014/main" id="{907F02E5-5C22-2616-2E35-2F10B0D1B8DD}"/>
                </a:ext>
              </a:extLst>
            </p:cNvPr>
            <p:cNvSpPr txBox="1">
              <a:spLocks/>
            </p:cNvSpPr>
            <p:nvPr/>
          </p:nvSpPr>
          <p:spPr>
            <a:xfrm>
              <a:off x="4044618" y="1639059"/>
              <a:ext cx="7010400" cy="553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 kern="0"/>
                <a:t>Continuous state-space model of the system</a:t>
              </a:r>
            </a:p>
            <a:p>
              <a:pPr marL="342900" indent="-342900" algn="l">
                <a:buFontTx/>
                <a:buChar char="-"/>
              </a:pPr>
              <a:endParaRPr lang="en-US" kern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8C52292-C48B-0CAD-D1B8-0886CC7DEA07}"/>
              </a:ext>
            </a:extLst>
          </p:cNvPr>
          <p:cNvGrpSpPr/>
          <p:nvPr/>
        </p:nvGrpSpPr>
        <p:grpSpPr>
          <a:xfrm>
            <a:off x="671766" y="1502744"/>
            <a:ext cx="4384844" cy="2121211"/>
            <a:chOff x="2871362" y="4240260"/>
            <a:chExt cx="4384844" cy="212121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Google Shape;489;p43">
                  <a:extLst>
                    <a:ext uri="{FF2B5EF4-FFF2-40B4-BE49-F238E27FC236}">
                      <a16:creationId xmlns:a16="http://schemas.microsoft.com/office/drawing/2014/main" id="{34BAA26F-5700-668D-520C-2B4401A751D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71363" y="4517227"/>
                  <a:ext cx="4384843" cy="18442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457200" marR="0" lvl="0" indent="-31750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1pPr>
                  <a:lvl2pPr marL="914400" marR="0" lvl="1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2pPr>
                  <a:lvl3pPr marL="1371600" marR="0" lvl="2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3pPr>
                  <a:lvl4pPr marL="1828800" marR="0" lvl="3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4pPr>
                  <a:lvl5pPr marL="2286000" marR="0" lvl="4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5pPr>
                  <a:lvl6pPr marL="2743200" marR="0" lvl="5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6pPr>
                  <a:lvl7pPr marL="3200400" marR="0" lvl="6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7pPr>
                  <a:lvl8pPr marL="3657600" marR="0" lvl="7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8pPr>
                  <a:lvl9pPr marL="4114800" marR="0" lvl="8" indent="-31750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DM Sans"/>
                    <a:buNone/>
                    <a:defRPr sz="1867" b="0" i="0" u="none" strike="noStrike" cap="none">
                      <a:solidFill>
                        <a:schemeClr val="dk1"/>
                      </a:solidFill>
                      <a:latin typeface="DM Sans"/>
                      <a:ea typeface="DM Sans"/>
                      <a:cs typeface="DM Sans"/>
                      <a:sym typeface="DM Sans"/>
                    </a:defRPr>
                  </a:lvl9pPr>
                </a:lstStyle>
                <a:p>
                  <a:pPr marL="0" indent="0"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𝜏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kern="0"/>
                </a:p>
              </p:txBody>
            </p:sp>
          </mc:Choice>
          <mc:Fallback>
            <p:sp>
              <p:nvSpPr>
                <p:cNvPr id="9" name="Google Shape;489;p43">
                  <a:extLst>
                    <a:ext uri="{FF2B5EF4-FFF2-40B4-BE49-F238E27FC236}">
                      <a16:creationId xmlns:a16="http://schemas.microsoft.com/office/drawing/2014/main" id="{34BAA26F-5700-668D-520C-2B4401A75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363" y="4517227"/>
                  <a:ext cx="4384843" cy="18442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Google Shape;489;p43">
              <a:extLst>
                <a:ext uri="{FF2B5EF4-FFF2-40B4-BE49-F238E27FC236}">
                  <a16:creationId xmlns:a16="http://schemas.microsoft.com/office/drawing/2014/main" id="{7F1EA8AF-900C-8189-FE00-098D2A803C9B}"/>
                </a:ext>
              </a:extLst>
            </p:cNvPr>
            <p:cNvSpPr txBox="1">
              <a:spLocks/>
            </p:cNvSpPr>
            <p:nvPr/>
          </p:nvSpPr>
          <p:spPr>
            <a:xfrm>
              <a:off x="2871362" y="4240260"/>
              <a:ext cx="4384843" cy="553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 kern="0"/>
                <a:t>Newton’s 2</a:t>
              </a:r>
              <a:r>
                <a:rPr lang="en-US" kern="0" baseline="30000"/>
                <a:t>nd</a:t>
              </a:r>
              <a:r>
                <a:rPr lang="en-US" kern="0"/>
                <a:t> law of motion</a:t>
              </a:r>
            </a:p>
            <a:p>
              <a:pPr marL="342900" indent="-342900" algn="l">
                <a:buFontTx/>
                <a:buChar char="-"/>
              </a:pPr>
              <a:endParaRPr lang="en-US" kern="0"/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30F7E48-569C-32DC-AD2E-3FA846CCB8B0}"/>
              </a:ext>
            </a:extLst>
          </p:cNvPr>
          <p:cNvGrpSpPr/>
          <p:nvPr/>
        </p:nvGrpSpPr>
        <p:grpSpPr>
          <a:xfrm>
            <a:off x="6025985" y="1502744"/>
            <a:ext cx="2192592" cy="2167463"/>
            <a:chOff x="7787150" y="3967610"/>
            <a:chExt cx="2192592" cy="21674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4F4909C8-D9E6-E569-9EDD-E6AD7447D048}"/>
                    </a:ext>
                  </a:extLst>
                </p:cNvPr>
                <p:cNvSpPr txBox="1"/>
                <p:nvPr/>
              </p:nvSpPr>
              <p:spPr>
                <a:xfrm>
                  <a:off x="7787150" y="4794193"/>
                  <a:ext cx="2192592" cy="13408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de-DE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e-D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&amp;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e-D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  <m:r>
                                  <a:rPr lang="de-DE" i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de-DE"/>
                </a:p>
              </p:txBody>
            </p:sp>
          </mc:Choice>
          <mc:Fallback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4F4909C8-D9E6-E569-9EDD-E6AD7447D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7150" y="4794193"/>
                  <a:ext cx="2192592" cy="13408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Google Shape;489;p43">
              <a:extLst>
                <a:ext uri="{FF2B5EF4-FFF2-40B4-BE49-F238E27FC236}">
                  <a16:creationId xmlns:a16="http://schemas.microsoft.com/office/drawing/2014/main" id="{84A3E6FC-964E-BC9E-16E8-3FCF260DD095}"/>
                </a:ext>
              </a:extLst>
            </p:cNvPr>
            <p:cNvSpPr txBox="1">
              <a:spLocks/>
            </p:cNvSpPr>
            <p:nvPr/>
          </p:nvSpPr>
          <p:spPr>
            <a:xfrm>
              <a:off x="7787150" y="3967610"/>
              <a:ext cx="2192592" cy="826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DM Sans"/>
                <a:buNone/>
                <a:defRPr sz="1867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defRPr>
              </a:lvl9pPr>
            </a:lstStyle>
            <a:p>
              <a:pPr marL="0" indent="0"/>
              <a:r>
                <a:rPr lang="en-US" kern="0"/>
                <a:t>Kinematic motion equations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865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3996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Kalman Filter Implementation</a:t>
            </a:r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1041099" y="2775980"/>
            <a:ext cx="5803236" cy="284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buSzPts val="1100"/>
              <a:buNone/>
            </a:pPr>
            <a:r>
              <a:rPr lang="en-US" u="sng" noProof="0"/>
              <a:t>Generating:</a:t>
            </a:r>
            <a:r>
              <a:rPr lang="en-US" noProof="0"/>
              <a:t> Sensor data &amp; true state reference</a:t>
            </a:r>
          </a:p>
          <a:p>
            <a:pPr marL="0" indent="0" algn="ctr">
              <a:buSzPts val="1100"/>
              <a:buNone/>
            </a:pPr>
            <a:endParaRPr lang="en-US" noProof="0"/>
          </a:p>
          <a:p>
            <a:pPr marL="0" indent="0" algn="ctr">
              <a:buSzPts val="1100"/>
              <a:buNone/>
            </a:pPr>
            <a:r>
              <a:rPr lang="en-US" noProof="0"/>
              <a:t>Filter initialization</a:t>
            </a:r>
          </a:p>
          <a:p>
            <a:pPr marL="0" indent="0" algn="ctr">
              <a:buSzPts val="1100"/>
              <a:buNone/>
            </a:pPr>
            <a:endParaRPr lang="en-US" noProof="0"/>
          </a:p>
          <a:p>
            <a:pPr marL="0" indent="0" algn="ctr">
              <a:buSzPts val="1100"/>
              <a:buNone/>
            </a:pPr>
            <a:r>
              <a:rPr lang="en-US" u="sng" noProof="0"/>
              <a:t>Filter Loop:</a:t>
            </a:r>
            <a:r>
              <a:rPr lang="en-US" noProof="0"/>
              <a:t> estimation of the state</a:t>
            </a:r>
          </a:p>
          <a:p>
            <a:pPr marL="0" indent="0" algn="ctr">
              <a:buSzPts val="1100"/>
              <a:buNone/>
            </a:pPr>
            <a:endParaRPr lang="en-US" noProof="0"/>
          </a:p>
          <a:p>
            <a:pPr marL="0" indent="0" algn="ctr">
              <a:buSzPts val="1100"/>
              <a:buNone/>
            </a:pPr>
            <a:r>
              <a:rPr lang="en-US" u="sng" noProof="0"/>
              <a:t>Plot:</a:t>
            </a:r>
            <a:r>
              <a:rPr lang="en-US" noProof="0"/>
              <a:t> State comparison &amp; estimation error </a:t>
            </a:r>
          </a:p>
          <a:p>
            <a:pPr marL="0" indent="0">
              <a:buSzPts val="1100"/>
              <a:buNone/>
            </a:pPr>
            <a:endParaRPr lang="en-US" noProof="0"/>
          </a:p>
        </p:txBody>
      </p:sp>
      <p:grpSp>
        <p:nvGrpSpPr>
          <p:cNvPr id="464" name="Google Shape;464;p42"/>
          <p:cNvGrpSpPr/>
          <p:nvPr/>
        </p:nvGrpSpPr>
        <p:grpSpPr>
          <a:xfrm>
            <a:off x="7241241" y="-594378"/>
            <a:ext cx="5448751" cy="8086423"/>
            <a:chOff x="5430930" y="-445784"/>
            <a:chExt cx="4086563" cy="6064817"/>
          </a:xfrm>
        </p:grpSpPr>
        <p:sp>
          <p:nvSpPr>
            <p:cNvPr id="465" name="Google Shape;465;p42"/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6" name="Google Shape;466;p42"/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4" name="Google Shape;474;p42"/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5" name="Google Shape;475;p42"/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6" name="Google Shape;476;p42"/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9" name="Google Shape;479;p42"/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80" name="Google Shape;480;p42"/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82" name="Google Shape;482;p42"/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BE943121-70EA-2084-828E-5D723968037C}"/>
              </a:ext>
            </a:extLst>
          </p:cNvPr>
          <p:cNvGrpSpPr/>
          <p:nvPr/>
        </p:nvGrpSpPr>
        <p:grpSpPr>
          <a:xfrm>
            <a:off x="3887349" y="3292146"/>
            <a:ext cx="52266" cy="1560466"/>
            <a:chOff x="4715712" y="1861117"/>
            <a:chExt cx="68580" cy="1560466"/>
          </a:xfrm>
        </p:grpSpPr>
        <p:sp>
          <p:nvSpPr>
            <p:cNvPr id="5" name="Flèche : bas 4">
              <a:extLst>
                <a:ext uri="{FF2B5EF4-FFF2-40B4-BE49-F238E27FC236}">
                  <a16:creationId xmlns:a16="http://schemas.microsoft.com/office/drawing/2014/main" id="{1A3F086C-CC50-97F2-5126-7796034AB62E}"/>
                </a:ext>
              </a:extLst>
            </p:cNvPr>
            <p:cNvSpPr/>
            <p:nvPr/>
          </p:nvSpPr>
          <p:spPr>
            <a:xfrm>
              <a:off x="4738573" y="1861117"/>
              <a:ext cx="45719" cy="20703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6" name="Flèche : bas 5">
              <a:extLst>
                <a:ext uri="{FF2B5EF4-FFF2-40B4-BE49-F238E27FC236}">
                  <a16:creationId xmlns:a16="http://schemas.microsoft.com/office/drawing/2014/main" id="{11AB4BBD-4902-3751-C415-585A1D0DFCE9}"/>
                </a:ext>
              </a:extLst>
            </p:cNvPr>
            <p:cNvSpPr/>
            <p:nvPr/>
          </p:nvSpPr>
          <p:spPr>
            <a:xfrm>
              <a:off x="4738572" y="2538777"/>
              <a:ext cx="45719" cy="20703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7" name="Flèche : bas 6">
              <a:extLst>
                <a:ext uri="{FF2B5EF4-FFF2-40B4-BE49-F238E27FC236}">
                  <a16:creationId xmlns:a16="http://schemas.microsoft.com/office/drawing/2014/main" id="{EEBA82F8-82D7-F7CB-8BEE-B1AF94421A03}"/>
                </a:ext>
              </a:extLst>
            </p:cNvPr>
            <p:cNvSpPr/>
            <p:nvPr/>
          </p:nvSpPr>
          <p:spPr>
            <a:xfrm>
              <a:off x="4715712" y="3214550"/>
              <a:ext cx="45719" cy="20703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0" name="Google Shape;463;p42">
            <a:extLst>
              <a:ext uri="{FF2B5EF4-FFF2-40B4-BE49-F238E27FC236}">
                <a16:creationId xmlns:a16="http://schemas.microsoft.com/office/drawing/2014/main" id="{3642F2F0-A9DE-E892-2B7B-FFC5E53A91C8}"/>
              </a:ext>
            </a:extLst>
          </p:cNvPr>
          <p:cNvSpPr txBox="1">
            <a:spLocks/>
          </p:cNvSpPr>
          <p:nvPr/>
        </p:nvSpPr>
        <p:spPr>
          <a:xfrm>
            <a:off x="2521697" y="2243353"/>
            <a:ext cx="5033217" cy="45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SzPts val="1100"/>
              <a:buNone/>
            </a:pPr>
            <a:r>
              <a:rPr lang="en-US" b="1" u="sng" kern="0" noProof="0" err="1"/>
              <a:t>Matlab</a:t>
            </a:r>
            <a:r>
              <a:rPr lang="en-US" b="1" u="sng" kern="0" noProof="0"/>
              <a:t> code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950967" y="2556388"/>
            <a:ext cx="5792400" cy="22469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noProof="0"/>
              <a:t>Results and performance</a:t>
            </a:r>
          </a:p>
        </p:txBody>
      </p:sp>
      <p:grpSp>
        <p:nvGrpSpPr>
          <p:cNvPr id="432" name="Google Shape;432;p40"/>
          <p:cNvGrpSpPr/>
          <p:nvPr/>
        </p:nvGrpSpPr>
        <p:grpSpPr>
          <a:xfrm>
            <a:off x="6806507" y="-204495"/>
            <a:ext cx="5624784" cy="8000769"/>
            <a:chOff x="5104880" y="-153372"/>
            <a:chExt cx="4218588" cy="6000577"/>
          </a:xfrm>
        </p:grpSpPr>
        <p:sp>
          <p:nvSpPr>
            <p:cNvPr id="433" name="Google Shape;433;p40"/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1" name="Google Shape;441;p40"/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2" name="Google Shape;442;p40"/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3" name="Google Shape;443;p40"/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4" name="Google Shape;444;p40"/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5" name="Google Shape;445;p40"/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8" name="Google Shape;448;p40"/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9" name="Google Shape;449;p40"/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</p:grpSp>
      <p:cxnSp>
        <p:nvCxnSpPr>
          <p:cNvPr id="450" name="Google Shape;450;p40"/>
          <p:cNvCxnSpPr/>
          <p:nvPr/>
        </p:nvCxnSpPr>
        <p:spPr>
          <a:xfrm>
            <a:off x="1121667" y="1847800"/>
            <a:ext cx="498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3"/>
          <p:cNvSpPr txBox="1">
            <a:spLocks noGrp="1"/>
          </p:cNvSpPr>
          <p:nvPr>
            <p:ph type="title"/>
          </p:nvPr>
        </p:nvSpPr>
        <p:spPr>
          <a:xfrm>
            <a:off x="960000" y="412771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Results</a:t>
            </a:r>
          </a:p>
        </p:txBody>
      </p:sp>
      <p:sp>
        <p:nvSpPr>
          <p:cNvPr id="732" name="Google Shape;732;p53"/>
          <p:cNvSpPr txBox="1">
            <a:spLocks noGrp="1"/>
          </p:cNvSpPr>
          <p:nvPr>
            <p:ph type="subTitle" idx="4294967295"/>
          </p:nvPr>
        </p:nvSpPr>
        <p:spPr>
          <a:xfrm>
            <a:off x="370936" y="621102"/>
            <a:ext cx="5080957" cy="112246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ctr">
              <a:buNone/>
            </a:pPr>
            <a:r>
              <a:rPr lang="en-US" sz="2400" b="1" noProof="0">
                <a:latin typeface="Outfit"/>
                <a:ea typeface="Outfit"/>
                <a:cs typeface="Outfit"/>
                <a:sym typeface="Outfit"/>
              </a:rPr>
              <a:t>Motor data generation</a:t>
            </a:r>
          </a:p>
          <a:p>
            <a:pPr marL="0" indent="0" algn="ctr">
              <a:buNone/>
            </a:pPr>
            <a:r>
              <a:rPr lang="en-US" sz="1600" noProof="0">
                <a:latin typeface="Outfit"/>
                <a:ea typeface="Outfit"/>
                <a:cs typeface="Outfit"/>
                <a:sym typeface="Outfit"/>
              </a:rPr>
              <a:t>12V on both motors and </a:t>
            </a:r>
            <a:r>
              <a:rPr lang="en-US" sz="1600" noProof="0" err="1">
                <a:latin typeface="Outfit"/>
                <a:ea typeface="Outfit"/>
                <a:cs typeface="Outfit"/>
                <a:sym typeface="Outfit"/>
              </a:rPr>
              <a:t>slown</a:t>
            </a:r>
            <a:r>
              <a:rPr lang="en-US" sz="1600" noProof="0">
                <a:latin typeface="Outfit"/>
                <a:ea typeface="Outfit"/>
                <a:cs typeface="Outfit"/>
                <a:sym typeface="Outfit"/>
              </a:rPr>
              <a:t> down to 8V on the right motor (blue) between 2 and 4 seconds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C0DC2B-7499-6F6C-35A3-39C5424A18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941"/>
          <a:stretch>
            <a:fillRect/>
          </a:stretch>
        </p:blipFill>
        <p:spPr>
          <a:xfrm>
            <a:off x="286004" y="1743563"/>
            <a:ext cx="5295286" cy="49169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Google Shape;732;p53">
            <a:extLst>
              <a:ext uri="{FF2B5EF4-FFF2-40B4-BE49-F238E27FC236}">
                <a16:creationId xmlns:a16="http://schemas.microsoft.com/office/drawing/2014/main" id="{AF2F6C03-1626-2639-71B5-B5B3C9B31644}"/>
              </a:ext>
            </a:extLst>
          </p:cNvPr>
          <p:cNvSpPr txBox="1">
            <a:spLocks/>
          </p:cNvSpPr>
          <p:nvPr/>
        </p:nvSpPr>
        <p:spPr>
          <a:xfrm>
            <a:off x="6740107" y="615140"/>
            <a:ext cx="5080957" cy="11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>
              <a:buFont typeface="DM Sans"/>
              <a:buNone/>
            </a:pPr>
            <a:r>
              <a:rPr lang="en-US" sz="2400" b="1" kern="0" noProof="0">
                <a:latin typeface="Outfit"/>
                <a:ea typeface="Outfit"/>
                <a:cs typeface="Outfit"/>
                <a:sym typeface="Outfit"/>
              </a:rPr>
              <a:t>True state</a:t>
            </a:r>
          </a:p>
          <a:p>
            <a:pPr marL="0" indent="0" algn="ctr">
              <a:buFont typeface="DM Sans"/>
              <a:buNone/>
            </a:pPr>
            <a:r>
              <a:rPr lang="en-US" sz="1600" kern="0" noProof="0">
                <a:latin typeface="Outfit"/>
                <a:ea typeface="Outfit"/>
                <a:cs typeface="Outfit"/>
                <a:sym typeface="Outfit"/>
              </a:rPr>
              <a:t>The computation of the true speed and yaw rate, enable the generation of motor data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CF84457-7206-AAB9-06E2-C50C2807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093"/>
          <a:stretch>
            <a:fillRect/>
          </a:stretch>
        </p:blipFill>
        <p:spPr>
          <a:xfrm>
            <a:off x="6610710" y="1743563"/>
            <a:ext cx="5295286" cy="49169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073AFD-A083-A81C-C96B-0CED0EB15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257" y="3938636"/>
            <a:ext cx="1533739" cy="3715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34E896F-1BBD-B765-66EC-B628986AD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078" y="3897909"/>
            <a:ext cx="800212" cy="3429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>
          <a:extLst>
            <a:ext uri="{FF2B5EF4-FFF2-40B4-BE49-F238E27FC236}">
              <a16:creationId xmlns:a16="http://schemas.microsoft.com/office/drawing/2014/main" id="{92A5559C-70EA-D9F5-0594-21F82A5C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3">
            <a:extLst>
              <a:ext uri="{FF2B5EF4-FFF2-40B4-BE49-F238E27FC236}">
                <a16:creationId xmlns:a16="http://schemas.microsoft.com/office/drawing/2014/main" id="{C77C0F87-88FD-3676-ABF3-45261603F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0405" y="237848"/>
            <a:ext cx="4080702" cy="65878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Results</a:t>
            </a:r>
          </a:p>
        </p:txBody>
      </p:sp>
      <p:sp>
        <p:nvSpPr>
          <p:cNvPr id="4" name="Google Shape;732;p53">
            <a:extLst>
              <a:ext uri="{FF2B5EF4-FFF2-40B4-BE49-F238E27FC236}">
                <a16:creationId xmlns:a16="http://schemas.microsoft.com/office/drawing/2014/main" id="{0FA0B243-2B85-711C-AF2B-94E29407AE07}"/>
              </a:ext>
            </a:extLst>
          </p:cNvPr>
          <p:cNvSpPr txBox="1">
            <a:spLocks/>
          </p:cNvSpPr>
          <p:nvPr/>
        </p:nvSpPr>
        <p:spPr>
          <a:xfrm>
            <a:off x="7827744" y="475649"/>
            <a:ext cx="3533954" cy="295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>
              <a:buFont typeface="DM Sans"/>
              <a:buNone/>
            </a:pPr>
            <a:r>
              <a:rPr lang="en-US" sz="2400" b="1" kern="0" noProof="0">
                <a:latin typeface="Outfit"/>
                <a:ea typeface="Outfit"/>
                <a:cs typeface="Outfit"/>
                <a:sym typeface="Outfit"/>
              </a:rPr>
              <a:t>Estimation</a:t>
            </a:r>
          </a:p>
          <a:p>
            <a:pPr marL="0" indent="0" algn="ctr">
              <a:buFont typeface="DM Sans"/>
              <a:buNone/>
            </a:pPr>
            <a:r>
              <a:rPr lang="en-US" sz="1600" kern="0" noProof="0">
                <a:latin typeface="Outfit"/>
                <a:ea typeface="Outfit"/>
                <a:cs typeface="Outfit"/>
                <a:sym typeface="Outfit"/>
              </a:rPr>
              <a:t>Add noise to the previously generated true states to simulate sensor data.</a:t>
            </a:r>
          </a:p>
          <a:p>
            <a:pPr marL="0" indent="0" algn="ctr">
              <a:buFont typeface="DM Sans"/>
              <a:buNone/>
            </a:pPr>
            <a:endParaRPr lang="en-US" sz="1600" kern="0" noProof="0">
              <a:latin typeface="Outfit"/>
              <a:ea typeface="Outfit"/>
              <a:cs typeface="Outfit"/>
              <a:sym typeface="Outfit"/>
            </a:endParaRPr>
          </a:p>
          <a:p>
            <a:pPr marL="0" indent="0" algn="ctr">
              <a:buFont typeface="DM Sans"/>
              <a:buNone/>
            </a:pPr>
            <a:r>
              <a:rPr lang="en-US" sz="1600" kern="0" noProof="0">
                <a:latin typeface="Outfit"/>
                <a:ea typeface="Outfit"/>
                <a:cs typeface="Outfit"/>
                <a:sym typeface="Outfit"/>
              </a:rPr>
              <a:t>This data is used in the KF to compute the state estimate.</a:t>
            </a:r>
          </a:p>
          <a:p>
            <a:pPr marL="0" indent="0" algn="ctr">
              <a:buFont typeface="DM Sans"/>
              <a:buNone/>
            </a:pPr>
            <a:endParaRPr lang="en-US" sz="1600" kern="0" noProof="0">
              <a:latin typeface="Outfit"/>
              <a:ea typeface="Outfit"/>
              <a:cs typeface="Outfit"/>
              <a:sym typeface="Outfit"/>
            </a:endParaRPr>
          </a:p>
          <a:p>
            <a:pPr marL="0" indent="0" algn="ctr">
              <a:buFont typeface="DM Sans"/>
              <a:buNone/>
            </a:pPr>
            <a:r>
              <a:rPr lang="en-US" sz="1600" kern="0" noProof="0">
                <a:latin typeface="Outfit"/>
                <a:ea typeface="Outfit"/>
                <a:cs typeface="Outfit"/>
                <a:sym typeface="Outfit"/>
              </a:rPr>
              <a:t>The state estimate is projected in the navigation frame to cross check the results.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B640A3F-E520-3410-0707-306E65C26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52" y="977784"/>
            <a:ext cx="6606527" cy="56423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53E2E76-0C77-319C-8B5F-62C94337A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936" y="3666801"/>
            <a:ext cx="4731571" cy="29533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Flèche : bas 4">
            <a:extLst>
              <a:ext uri="{FF2B5EF4-FFF2-40B4-BE49-F238E27FC236}">
                <a16:creationId xmlns:a16="http://schemas.microsoft.com/office/drawing/2014/main" id="{C309A74F-5D73-68F7-CB5F-03BB7816EFD8}"/>
              </a:ext>
            </a:extLst>
          </p:cNvPr>
          <p:cNvSpPr/>
          <p:nvPr/>
        </p:nvSpPr>
        <p:spPr>
          <a:xfrm>
            <a:off x="9612143" y="1365024"/>
            <a:ext cx="34843" cy="2070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Flèche : bas 5">
            <a:extLst>
              <a:ext uri="{FF2B5EF4-FFF2-40B4-BE49-F238E27FC236}">
                <a16:creationId xmlns:a16="http://schemas.microsoft.com/office/drawing/2014/main" id="{49A22466-50D9-777E-C90A-32393CB1FFF3}"/>
              </a:ext>
            </a:extLst>
          </p:cNvPr>
          <p:cNvSpPr/>
          <p:nvPr/>
        </p:nvSpPr>
        <p:spPr>
          <a:xfrm>
            <a:off x="9612143" y="2212411"/>
            <a:ext cx="34843" cy="2070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5855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>
          <a:extLst>
            <a:ext uri="{FF2B5EF4-FFF2-40B4-BE49-F238E27FC236}">
              <a16:creationId xmlns:a16="http://schemas.microsoft.com/office/drawing/2014/main" id="{8E0B55E5-08CB-D25D-3B7E-A31D3A05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3">
            <a:extLst>
              <a:ext uri="{FF2B5EF4-FFF2-40B4-BE49-F238E27FC236}">
                <a16:creationId xmlns:a16="http://schemas.microsoft.com/office/drawing/2014/main" id="{0567CE6A-CDED-2B3C-20BA-EBB2C0590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0405" y="155773"/>
            <a:ext cx="4080702" cy="65878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Results</a:t>
            </a:r>
          </a:p>
        </p:txBody>
      </p:sp>
      <p:sp>
        <p:nvSpPr>
          <p:cNvPr id="4" name="Google Shape;732;p53">
            <a:extLst>
              <a:ext uri="{FF2B5EF4-FFF2-40B4-BE49-F238E27FC236}">
                <a16:creationId xmlns:a16="http://schemas.microsoft.com/office/drawing/2014/main" id="{1BFAB726-3820-7F6E-1784-3B37AF5BE030}"/>
              </a:ext>
            </a:extLst>
          </p:cNvPr>
          <p:cNvSpPr txBox="1">
            <a:spLocks/>
          </p:cNvSpPr>
          <p:nvPr/>
        </p:nvSpPr>
        <p:spPr>
          <a:xfrm>
            <a:off x="8048445" y="1930107"/>
            <a:ext cx="3839464" cy="2232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867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>
              <a:buFont typeface="DM Sans"/>
              <a:buNone/>
            </a:pPr>
            <a:r>
              <a:rPr lang="en-US" sz="2400" b="1" kern="0" noProof="0">
                <a:latin typeface="Outfit"/>
                <a:ea typeface="Outfit"/>
                <a:cs typeface="Outfit"/>
                <a:sym typeface="Outfit"/>
              </a:rPr>
              <a:t>Estimation errors</a:t>
            </a:r>
          </a:p>
          <a:p>
            <a:pPr marL="0" indent="0" algn="ctr">
              <a:buFont typeface="DM Sans"/>
              <a:buNone/>
            </a:pPr>
            <a:r>
              <a:rPr lang="en-US" sz="1600" kern="0" noProof="0">
                <a:latin typeface="Outfit"/>
                <a:ea typeface="Outfit"/>
                <a:cs typeface="Outfit"/>
                <a:sym typeface="Outfit"/>
              </a:rPr>
              <a:t>The expected error boundaries can be plotted by storing the square root of the estimation error covariance matrix P.</a:t>
            </a:r>
          </a:p>
          <a:p>
            <a:pPr marL="0" indent="0" algn="ctr">
              <a:buFont typeface="DM Sans"/>
              <a:buNone/>
            </a:pPr>
            <a:endParaRPr lang="en-US" sz="1600" kern="0" noProof="0">
              <a:latin typeface="Outfit"/>
              <a:ea typeface="Outfit"/>
              <a:cs typeface="Outfit"/>
              <a:sym typeface="Outfit"/>
            </a:endParaRPr>
          </a:p>
          <a:p>
            <a:pPr marL="0" indent="0" algn="ctr">
              <a:buFont typeface="DM Sans"/>
              <a:buNone/>
            </a:pPr>
            <a:r>
              <a:rPr lang="en-US" sz="1600" kern="0" noProof="0">
                <a:latin typeface="Outfit"/>
                <a:ea typeface="Outfit"/>
                <a:cs typeface="Outfit"/>
                <a:sym typeface="Outfit"/>
              </a:rPr>
              <a:t>All three estimates of the state </a:t>
            </a:r>
            <a:r>
              <a:rPr lang="en-US" sz="1600" kern="0">
                <a:latin typeface="Outfit"/>
                <a:ea typeface="Outfit"/>
                <a:cs typeface="Outfit"/>
                <a:sym typeface="Outfit"/>
              </a:rPr>
              <a:t>vector shod satisfying mean converging errors.</a:t>
            </a:r>
            <a:endParaRPr lang="en-US" sz="1600" kern="0" noProof="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0CE2794-8DA3-70E8-D930-6F64E9E3A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8" y="896634"/>
            <a:ext cx="7589116" cy="54762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5087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08A06865-5AD5-9D60-EA95-C1B2C64B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917F1657-92CF-81C6-680E-3FDA14E50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2349910"/>
            <a:ext cx="6355048" cy="3949058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noProof="0"/>
              <a:t>Future development and implementation</a:t>
            </a:r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108DE2BE-89BB-90DD-F44D-226C4E9A5E27}"/>
              </a:ext>
            </a:extLst>
          </p:cNvPr>
          <p:cNvGrpSpPr/>
          <p:nvPr/>
        </p:nvGrpSpPr>
        <p:grpSpPr>
          <a:xfrm>
            <a:off x="6806507" y="-204495"/>
            <a:ext cx="5624784" cy="8000769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5D977E40-006D-51AA-E3DA-392B9BED351C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779A8F64-4E71-AD17-FB09-CB29F96EF937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73F10645-7E21-22A8-2EE2-20F27858565D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7C8AABC3-3D84-A8AE-2BC9-CD54131E70F1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428852BD-3C0F-5FB8-D98D-09AE306CCB98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C0E38300-8B5D-876E-6C9F-F8F8D2BEC2C4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B0CBA605-D81E-C457-FE78-D6CF6550F59A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FB7497A1-5914-C4AF-1CBA-8ADBC34809C0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167E9393-E8A4-879D-B5E2-0EB3097079F2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AA235D4A-25F6-BD3E-2B29-122AD6F27B84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97DCA810-F9B5-0B1D-EFE0-AA7596712C14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A8DE1CCF-DA8F-1728-6AA6-F5D4CFECE8C4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3F79F67B-53F6-32D8-6AC7-9CE90A85ADC1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065A5911-8146-DDEE-5760-E23C628B3D62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70930A12-C111-41D5-794D-80154DD9E9AB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F56176A4-CDD2-15BB-A7A7-AC5C90110BB4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42EF1CC3-6049-0D62-6FA1-B5773AF116CA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C008FB15-681A-1D71-70D8-5EA868E1830C}"/>
              </a:ext>
            </a:extLst>
          </p:cNvPr>
          <p:cNvCxnSpPr/>
          <p:nvPr/>
        </p:nvCxnSpPr>
        <p:spPr>
          <a:xfrm>
            <a:off x="1121667" y="1847800"/>
            <a:ext cx="498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69119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CFCD89A5-3CA5-32D5-0102-75E2A844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>
            <a:extLst>
              <a:ext uri="{FF2B5EF4-FFF2-40B4-BE49-F238E27FC236}">
                <a16:creationId xmlns:a16="http://schemas.microsoft.com/office/drawing/2014/main" id="{1CC45154-3F1A-2257-C5D4-D26A8C89D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3996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Improvements and implementation</a:t>
            </a:r>
          </a:p>
        </p:txBody>
      </p:sp>
      <p:sp>
        <p:nvSpPr>
          <p:cNvPr id="463" name="Google Shape;463;p42">
            <a:extLst>
              <a:ext uri="{FF2B5EF4-FFF2-40B4-BE49-F238E27FC236}">
                <a16:creationId xmlns:a16="http://schemas.microsoft.com/office/drawing/2014/main" id="{A8CD8B7F-2EBF-9B5E-9D39-A72C3D31ED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0000" y="1658065"/>
            <a:ext cx="5726400" cy="448203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>
              <a:buSzPts val="1100"/>
              <a:buFontTx/>
              <a:buChar char="-"/>
            </a:pPr>
            <a:r>
              <a:rPr lang="en-US"/>
              <a:t>The estimation capability is limited to the sensor precision and scope of the model.</a:t>
            </a:r>
          </a:p>
          <a:p>
            <a:pPr marL="342900" indent="-342900">
              <a:buSzPts val="1100"/>
              <a:buFontTx/>
              <a:buChar char="-"/>
            </a:pPr>
            <a:endParaRPr lang="en-US"/>
          </a:p>
          <a:p>
            <a:pPr marL="342900" indent="-342900">
              <a:buSzPts val="1100"/>
              <a:buFontTx/>
              <a:buChar char="-"/>
            </a:pPr>
            <a:r>
              <a:rPr lang="en-US"/>
              <a:t>The current filter doesn’t consider any non-linearity that can be introduced by the projection into the navigation frame.</a:t>
            </a:r>
          </a:p>
          <a:p>
            <a:pPr marL="342900" indent="-342900">
              <a:buSzPts val="1100"/>
              <a:buFontTx/>
              <a:buChar char="-"/>
            </a:pPr>
            <a:endParaRPr lang="en-US"/>
          </a:p>
          <a:p>
            <a:pPr marL="342900" indent="-342900">
              <a:buSzPts val="1100"/>
              <a:buFontTx/>
              <a:buChar char="-"/>
            </a:pPr>
            <a:r>
              <a:rPr lang="en-US"/>
              <a:t>This projection is handled by stage 2 in the navigation architecture.</a:t>
            </a:r>
          </a:p>
          <a:p>
            <a:pPr marL="342900" indent="-342900">
              <a:buSzPts val="1100"/>
              <a:buFontTx/>
              <a:buChar char="-"/>
            </a:pPr>
            <a:endParaRPr lang="en-US"/>
          </a:p>
          <a:p>
            <a:pPr marL="342900" indent="-342900">
              <a:buSzPts val="1100"/>
              <a:buFontTx/>
              <a:buChar char="-"/>
            </a:pPr>
            <a:r>
              <a:rPr lang="en-US"/>
              <a:t>The state vector can be expanded to also estimate the sensor biases for better compensation and modelling.</a:t>
            </a:r>
          </a:p>
          <a:p>
            <a:pPr marL="342900" indent="-342900">
              <a:buSzPts val="1100"/>
              <a:buFontTx/>
              <a:buChar char="-"/>
            </a:pPr>
            <a:endParaRPr lang="en-US"/>
          </a:p>
        </p:txBody>
      </p:sp>
      <p:grpSp>
        <p:nvGrpSpPr>
          <p:cNvPr id="464" name="Google Shape;464;p42">
            <a:extLst>
              <a:ext uri="{FF2B5EF4-FFF2-40B4-BE49-F238E27FC236}">
                <a16:creationId xmlns:a16="http://schemas.microsoft.com/office/drawing/2014/main" id="{CD936920-CE3B-D510-AE47-2ACEE26BDEF5}"/>
              </a:ext>
            </a:extLst>
          </p:cNvPr>
          <p:cNvGrpSpPr/>
          <p:nvPr/>
        </p:nvGrpSpPr>
        <p:grpSpPr>
          <a:xfrm>
            <a:off x="7241241" y="-594378"/>
            <a:ext cx="5448751" cy="8086423"/>
            <a:chOff x="5430930" y="-445784"/>
            <a:chExt cx="4086563" cy="6064817"/>
          </a:xfrm>
        </p:grpSpPr>
        <p:sp>
          <p:nvSpPr>
            <p:cNvPr id="465" name="Google Shape;465;p42">
              <a:extLst>
                <a:ext uri="{FF2B5EF4-FFF2-40B4-BE49-F238E27FC236}">
                  <a16:creationId xmlns:a16="http://schemas.microsoft.com/office/drawing/2014/main" id="{3D526D3A-AA36-007E-FA6F-27C651F340D7}"/>
                </a:ext>
              </a:extLst>
            </p:cNvPr>
            <p:cNvSpPr/>
            <p:nvPr/>
          </p:nvSpPr>
          <p:spPr>
            <a:xfrm>
              <a:off x="7368520" y="988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6" name="Google Shape;466;p42">
              <a:extLst>
                <a:ext uri="{FF2B5EF4-FFF2-40B4-BE49-F238E27FC236}">
                  <a16:creationId xmlns:a16="http://schemas.microsoft.com/office/drawing/2014/main" id="{400EF96F-8D8D-7B0F-4B12-ED42BE2B7C55}"/>
                </a:ext>
              </a:extLst>
            </p:cNvPr>
            <p:cNvSpPr/>
            <p:nvPr/>
          </p:nvSpPr>
          <p:spPr>
            <a:xfrm rot="10800000" flipH="1">
              <a:off x="6036409" y="19621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7" name="Google Shape;467;p42">
              <a:extLst>
                <a:ext uri="{FF2B5EF4-FFF2-40B4-BE49-F238E27FC236}">
                  <a16:creationId xmlns:a16="http://schemas.microsoft.com/office/drawing/2014/main" id="{41ED1B3E-FFC3-8DA0-4DE9-E5E5F7C51CBC}"/>
                </a:ext>
              </a:extLst>
            </p:cNvPr>
            <p:cNvSpPr/>
            <p:nvPr/>
          </p:nvSpPr>
          <p:spPr>
            <a:xfrm>
              <a:off x="7309474" y="21661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8" name="Google Shape;468;p42">
              <a:extLst>
                <a:ext uri="{FF2B5EF4-FFF2-40B4-BE49-F238E27FC236}">
                  <a16:creationId xmlns:a16="http://schemas.microsoft.com/office/drawing/2014/main" id="{17AC9946-B4BB-0884-3FD0-393AE5388232}"/>
                </a:ext>
              </a:extLst>
            </p:cNvPr>
            <p:cNvSpPr/>
            <p:nvPr/>
          </p:nvSpPr>
          <p:spPr>
            <a:xfrm>
              <a:off x="6269702" y="-4457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69" name="Google Shape;469;p42">
              <a:extLst>
                <a:ext uri="{FF2B5EF4-FFF2-40B4-BE49-F238E27FC236}">
                  <a16:creationId xmlns:a16="http://schemas.microsoft.com/office/drawing/2014/main" id="{660A30F5-65FB-899E-D55A-C45F1BCA295C}"/>
                </a:ext>
              </a:extLst>
            </p:cNvPr>
            <p:cNvSpPr/>
            <p:nvPr/>
          </p:nvSpPr>
          <p:spPr>
            <a:xfrm>
              <a:off x="5830483" y="42158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0" name="Google Shape;470;p42">
              <a:extLst>
                <a:ext uri="{FF2B5EF4-FFF2-40B4-BE49-F238E27FC236}">
                  <a16:creationId xmlns:a16="http://schemas.microsoft.com/office/drawing/2014/main" id="{858294B9-4DCA-336E-5CFE-A7D08192FFC4}"/>
                </a:ext>
              </a:extLst>
            </p:cNvPr>
            <p:cNvSpPr/>
            <p:nvPr/>
          </p:nvSpPr>
          <p:spPr>
            <a:xfrm>
              <a:off x="6269683" y="13325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1" name="Google Shape;471;p42">
              <a:extLst>
                <a:ext uri="{FF2B5EF4-FFF2-40B4-BE49-F238E27FC236}">
                  <a16:creationId xmlns:a16="http://schemas.microsoft.com/office/drawing/2014/main" id="{59ACA80F-F91C-CC8B-B2D9-981AA5FC3616}"/>
                </a:ext>
              </a:extLst>
            </p:cNvPr>
            <p:cNvSpPr/>
            <p:nvPr/>
          </p:nvSpPr>
          <p:spPr>
            <a:xfrm>
              <a:off x="8430764" y="234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2" name="Google Shape;472;p42">
              <a:extLst>
                <a:ext uri="{FF2B5EF4-FFF2-40B4-BE49-F238E27FC236}">
                  <a16:creationId xmlns:a16="http://schemas.microsoft.com/office/drawing/2014/main" id="{4C8439C9-AEE2-4EC9-F6D5-B5D3D57EF7F1}"/>
                </a:ext>
              </a:extLst>
            </p:cNvPr>
            <p:cNvSpPr/>
            <p:nvPr/>
          </p:nvSpPr>
          <p:spPr>
            <a:xfrm>
              <a:off x="7309467" y="26182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3" name="Google Shape;473;p42">
              <a:extLst>
                <a:ext uri="{FF2B5EF4-FFF2-40B4-BE49-F238E27FC236}">
                  <a16:creationId xmlns:a16="http://schemas.microsoft.com/office/drawing/2014/main" id="{3460B8D3-6782-9D37-0903-6F2BE95CD662}"/>
                </a:ext>
              </a:extLst>
            </p:cNvPr>
            <p:cNvSpPr/>
            <p:nvPr/>
          </p:nvSpPr>
          <p:spPr>
            <a:xfrm>
              <a:off x="7962441" y="131801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4" name="Google Shape;474;p42">
              <a:extLst>
                <a:ext uri="{FF2B5EF4-FFF2-40B4-BE49-F238E27FC236}">
                  <a16:creationId xmlns:a16="http://schemas.microsoft.com/office/drawing/2014/main" id="{FB251715-78FB-2325-B05A-34C9B098FF0A}"/>
                </a:ext>
              </a:extLst>
            </p:cNvPr>
            <p:cNvSpPr/>
            <p:nvPr/>
          </p:nvSpPr>
          <p:spPr>
            <a:xfrm rot="10800000" flipH="1">
              <a:off x="6351880" y="311086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5" name="Google Shape;475;p42">
              <a:extLst>
                <a:ext uri="{FF2B5EF4-FFF2-40B4-BE49-F238E27FC236}">
                  <a16:creationId xmlns:a16="http://schemas.microsoft.com/office/drawing/2014/main" id="{44F4AC70-4DBC-7DEA-692D-F568EAA500ED}"/>
                </a:ext>
              </a:extLst>
            </p:cNvPr>
            <p:cNvSpPr/>
            <p:nvPr/>
          </p:nvSpPr>
          <p:spPr>
            <a:xfrm rot="10800000" flipH="1">
              <a:off x="6790284" y="354856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6" name="Google Shape;476;p42">
              <a:extLst>
                <a:ext uri="{FF2B5EF4-FFF2-40B4-BE49-F238E27FC236}">
                  <a16:creationId xmlns:a16="http://schemas.microsoft.com/office/drawing/2014/main" id="{98C3781A-A8D1-8490-898B-8DD130C3DD13}"/>
                </a:ext>
              </a:extLst>
            </p:cNvPr>
            <p:cNvSpPr/>
            <p:nvPr/>
          </p:nvSpPr>
          <p:spPr>
            <a:xfrm rot="10800000" flipH="1">
              <a:off x="5430930" y="46509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7" name="Google Shape;477;p42">
              <a:extLst>
                <a:ext uri="{FF2B5EF4-FFF2-40B4-BE49-F238E27FC236}">
                  <a16:creationId xmlns:a16="http://schemas.microsoft.com/office/drawing/2014/main" id="{6E9CEDBC-98AF-5AC6-539E-90072A75671A}"/>
                </a:ext>
              </a:extLst>
            </p:cNvPr>
            <p:cNvSpPr/>
            <p:nvPr/>
          </p:nvSpPr>
          <p:spPr>
            <a:xfrm>
              <a:off x="8678783" y="266882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8" name="Google Shape;478;p42">
              <a:extLst>
                <a:ext uri="{FF2B5EF4-FFF2-40B4-BE49-F238E27FC236}">
                  <a16:creationId xmlns:a16="http://schemas.microsoft.com/office/drawing/2014/main" id="{8B4559B6-0B4D-8EDD-8046-1349BE38EFA9}"/>
                </a:ext>
              </a:extLst>
            </p:cNvPr>
            <p:cNvSpPr/>
            <p:nvPr/>
          </p:nvSpPr>
          <p:spPr>
            <a:xfrm>
              <a:off x="8430773" y="22359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79" name="Google Shape;479;p42">
              <a:extLst>
                <a:ext uri="{FF2B5EF4-FFF2-40B4-BE49-F238E27FC236}">
                  <a16:creationId xmlns:a16="http://schemas.microsoft.com/office/drawing/2014/main" id="{33A1BE6F-41E4-E701-1237-CA81793622EA}"/>
                </a:ext>
              </a:extLst>
            </p:cNvPr>
            <p:cNvSpPr/>
            <p:nvPr/>
          </p:nvSpPr>
          <p:spPr>
            <a:xfrm rot="10800000" flipH="1">
              <a:off x="8119787" y="36369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80" name="Google Shape;480;p42">
              <a:extLst>
                <a:ext uri="{FF2B5EF4-FFF2-40B4-BE49-F238E27FC236}">
                  <a16:creationId xmlns:a16="http://schemas.microsoft.com/office/drawing/2014/main" id="{DE8547AF-A39B-E3DA-8937-2BE52066E98A}"/>
                </a:ext>
              </a:extLst>
            </p:cNvPr>
            <p:cNvSpPr/>
            <p:nvPr/>
          </p:nvSpPr>
          <p:spPr>
            <a:xfrm rot="10800000" flipH="1">
              <a:off x="7697255" y="411247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81" name="Google Shape;481;p42">
              <a:extLst>
                <a:ext uri="{FF2B5EF4-FFF2-40B4-BE49-F238E27FC236}">
                  <a16:creationId xmlns:a16="http://schemas.microsoft.com/office/drawing/2014/main" id="{4A17D67C-55DF-BCB5-CE1C-BD1820DDEE4B}"/>
                </a:ext>
              </a:extLst>
            </p:cNvPr>
            <p:cNvSpPr/>
            <p:nvPr/>
          </p:nvSpPr>
          <p:spPr>
            <a:xfrm>
              <a:off x="6628072" y="11249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  <p:sp>
          <p:nvSpPr>
            <p:cNvPr id="482" name="Google Shape;482;p42">
              <a:extLst>
                <a:ext uri="{FF2B5EF4-FFF2-40B4-BE49-F238E27FC236}">
                  <a16:creationId xmlns:a16="http://schemas.microsoft.com/office/drawing/2014/main" id="{FB3488B5-E645-0394-97EB-2A1A4B67796C}"/>
                </a:ext>
              </a:extLst>
            </p:cNvPr>
            <p:cNvSpPr/>
            <p:nvPr/>
          </p:nvSpPr>
          <p:spPr>
            <a:xfrm rot="10800000" flipH="1">
              <a:off x="7825159" y="-2514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6812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0"/>
          <p:cNvSpPr txBox="1">
            <a:spLocks noGrp="1"/>
          </p:cNvSpPr>
          <p:nvPr>
            <p:ph type="title"/>
          </p:nvPr>
        </p:nvSpPr>
        <p:spPr>
          <a:xfrm>
            <a:off x="950967" y="1847262"/>
            <a:ext cx="6792800" cy="169329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800" noProof="0"/>
              <a:t>Thank you for your attention!</a:t>
            </a:r>
          </a:p>
        </p:txBody>
      </p:sp>
      <p:sp>
        <p:nvSpPr>
          <p:cNvPr id="1079" name="Google Shape;1079;p70"/>
          <p:cNvSpPr txBox="1">
            <a:spLocks noGrp="1"/>
          </p:cNvSpPr>
          <p:nvPr>
            <p:ph type="subTitle" idx="1"/>
          </p:nvPr>
        </p:nvSpPr>
        <p:spPr>
          <a:xfrm>
            <a:off x="950967" y="3291010"/>
            <a:ext cx="6792800" cy="141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sz="2667" noProof="0">
                <a:latin typeface="DM Sans Medium"/>
                <a:ea typeface="DM Sans Medium"/>
                <a:cs typeface="DM Sans Medium"/>
                <a:sym typeface="DM Sans Medium"/>
              </a:rPr>
              <a:t>Do you have any questions?</a:t>
            </a:r>
          </a:p>
        </p:txBody>
      </p:sp>
      <p:sp>
        <p:nvSpPr>
          <p:cNvPr id="1081" name="Google Shape;1081;p70"/>
          <p:cNvSpPr/>
          <p:nvPr/>
        </p:nvSpPr>
        <p:spPr>
          <a:xfrm rot="10800000" flipH="1">
            <a:off x="9581115" y="2450981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2" name="Google Shape;1082;p70"/>
          <p:cNvSpPr/>
          <p:nvPr/>
        </p:nvSpPr>
        <p:spPr>
          <a:xfrm rot="10800000" flipH="1">
            <a:off x="9516019" y="6051981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3" name="Google Shape;1083;p70"/>
          <p:cNvSpPr/>
          <p:nvPr/>
        </p:nvSpPr>
        <p:spPr>
          <a:xfrm rot="10800000" flipH="1">
            <a:off x="8956812" y="5422863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4" name="Google Shape;1084;p70"/>
          <p:cNvSpPr/>
          <p:nvPr/>
        </p:nvSpPr>
        <p:spPr>
          <a:xfrm rot="10800000" flipH="1">
            <a:off x="8333177" y="4019655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5" name="Google Shape;1085;p70"/>
          <p:cNvSpPr/>
          <p:nvPr/>
        </p:nvSpPr>
        <p:spPr>
          <a:xfrm rot="10800000" flipH="1">
            <a:off x="7791177" y="4681446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AFC7FF">
              <a:alpha val="2500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6" name="Google Shape;1086;p70"/>
          <p:cNvSpPr/>
          <p:nvPr/>
        </p:nvSpPr>
        <p:spPr>
          <a:xfrm rot="10800000" flipH="1">
            <a:off x="10122419" y="4527571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7" name="Google Shape;1087;p70"/>
          <p:cNvSpPr/>
          <p:nvPr/>
        </p:nvSpPr>
        <p:spPr>
          <a:xfrm rot="10800000" flipH="1">
            <a:off x="9581105" y="3080742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8" name="Google Shape;1088;p70"/>
          <p:cNvSpPr/>
          <p:nvPr/>
        </p:nvSpPr>
        <p:spPr>
          <a:xfrm rot="10800000" flipH="1">
            <a:off x="10764488" y="3975382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89" name="Google Shape;1089;p70"/>
          <p:cNvSpPr/>
          <p:nvPr/>
        </p:nvSpPr>
        <p:spPr>
          <a:xfrm>
            <a:off x="8196016" y="1680846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0" name="Google Shape;1090;p70"/>
          <p:cNvSpPr/>
          <p:nvPr/>
        </p:nvSpPr>
        <p:spPr>
          <a:xfrm>
            <a:off x="8621507" y="378034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1" name="Google Shape;1091;p70"/>
          <p:cNvSpPr/>
          <p:nvPr/>
        </p:nvSpPr>
        <p:spPr>
          <a:xfrm>
            <a:off x="7791179" y="-657962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2" name="Google Shape;1092;p70"/>
          <p:cNvSpPr/>
          <p:nvPr/>
        </p:nvSpPr>
        <p:spPr>
          <a:xfrm>
            <a:off x="9058829" y="1160165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AFC7FF">
              <a:alpha val="2500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3" name="Google Shape;1093;p70"/>
          <p:cNvSpPr/>
          <p:nvPr/>
        </p:nvSpPr>
        <p:spPr>
          <a:xfrm>
            <a:off x="6954407" y="-65215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4" name="Google Shape;1094;p70"/>
          <p:cNvSpPr/>
          <p:nvPr/>
        </p:nvSpPr>
        <p:spPr>
          <a:xfrm rot="10800000" flipH="1">
            <a:off x="11460911" y="2596667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5" name="Google Shape;1095;p70"/>
          <p:cNvSpPr/>
          <p:nvPr/>
        </p:nvSpPr>
        <p:spPr>
          <a:xfrm rot="10800000" flipH="1">
            <a:off x="10865580" y="1952434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6" name="Google Shape;1096;p70"/>
          <p:cNvSpPr/>
          <p:nvPr/>
        </p:nvSpPr>
        <p:spPr>
          <a:xfrm>
            <a:off x="10619049" y="564546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sp>
        <p:nvSpPr>
          <p:cNvPr id="1097" name="Google Shape;1097;p70"/>
          <p:cNvSpPr/>
          <p:nvPr/>
        </p:nvSpPr>
        <p:spPr>
          <a:xfrm>
            <a:off x="11163240" y="-65215"/>
            <a:ext cx="1118280" cy="1290828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/>
          </a:p>
        </p:txBody>
      </p:sp>
      <p:cxnSp>
        <p:nvCxnSpPr>
          <p:cNvPr id="1098" name="Google Shape;1098;p70"/>
          <p:cNvCxnSpPr/>
          <p:nvPr/>
        </p:nvCxnSpPr>
        <p:spPr>
          <a:xfrm>
            <a:off x="1085633" y="903351"/>
            <a:ext cx="498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AE39D6B5-BFB4-DD86-F563-BEE527926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4746" y="4467185"/>
            <a:ext cx="6792800" cy="1411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6">
          <a:extLst>
            <a:ext uri="{FF2B5EF4-FFF2-40B4-BE49-F238E27FC236}">
              <a16:creationId xmlns:a16="http://schemas.microsoft.com/office/drawing/2014/main" id="{CA2B54C5-57A6-51F5-85E2-0760910C6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>
            <a:extLst>
              <a:ext uri="{FF2B5EF4-FFF2-40B4-BE49-F238E27FC236}">
                <a16:creationId xmlns:a16="http://schemas.microsoft.com/office/drawing/2014/main" id="{C51CEE81-5C5B-2762-72AB-EA2B33B48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noProof="0"/>
              <a:t>A model to describe the robot</a:t>
            </a:r>
          </a:p>
        </p:txBody>
      </p:sp>
      <p:sp>
        <p:nvSpPr>
          <p:cNvPr id="489" name="Google Shape;489;p43">
            <a:extLst>
              <a:ext uri="{FF2B5EF4-FFF2-40B4-BE49-F238E27FC236}">
                <a16:creationId xmlns:a16="http://schemas.microsoft.com/office/drawing/2014/main" id="{6B7F809A-6A7F-06FC-68A8-BA4D727B45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17766" y="1524392"/>
            <a:ext cx="3792000" cy="51516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en-US" noProof="0">
                <a:highlight>
                  <a:srgbClr val="FFFF00"/>
                </a:highlight>
              </a:rPr>
              <a:t>Project overview</a:t>
            </a:r>
          </a:p>
          <a:p>
            <a:pPr marL="342900" indent="-342900" algn="l">
              <a:buFontTx/>
              <a:buChar char="-"/>
            </a:pPr>
            <a:r>
              <a:rPr lang="en-US" noProof="0">
                <a:highlight>
                  <a:srgbClr val="FFFF00"/>
                </a:highlight>
              </a:rPr>
              <a:t>Why would we need a KF</a:t>
            </a:r>
          </a:p>
          <a:p>
            <a:pPr marL="342900" indent="-342900" algn="l">
              <a:buFontTx/>
              <a:buChar char="-"/>
            </a:pPr>
            <a:r>
              <a:rPr lang="en-US" noProof="0">
                <a:highlight>
                  <a:srgbClr val="FFFF00"/>
                </a:highlight>
              </a:rPr>
              <a:t>What do we have and what do we need ?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Robot control flow chart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Data generation for simulation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Explain the mathematical model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Kalman filter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Show the matrices and equations</a:t>
            </a:r>
          </a:p>
          <a:p>
            <a:pPr marL="342900" indent="-342900" algn="l">
              <a:buFontTx/>
              <a:buChar char="-"/>
            </a:pPr>
            <a:r>
              <a:rPr lang="en-US" noProof="0"/>
              <a:t>Flaws of the filter</a:t>
            </a:r>
          </a:p>
          <a:p>
            <a:pPr marL="342900" indent="-342900" algn="l">
              <a:buFontTx/>
              <a:buChar char="-"/>
            </a:pPr>
            <a:r>
              <a:rPr lang="en-US" noProof="0">
                <a:highlight>
                  <a:srgbClr val="FFFF00"/>
                </a:highlight>
              </a:rPr>
              <a:t>Future implementation and work</a:t>
            </a:r>
          </a:p>
        </p:txBody>
      </p:sp>
    </p:spTree>
    <p:extLst>
      <p:ext uri="{BB962C8B-B14F-4D97-AF65-F5344CB8AC3E}">
        <p14:creationId xmlns:p14="http://schemas.microsoft.com/office/powerpoint/2010/main" val="2156564558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182305-36e2-4f60-9f86-1c7db1ffba1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E73F432E19A24A9C7B28E17502F0E9" ma:contentTypeVersion="10" ma:contentTypeDescription="Crée un document." ma:contentTypeScope="" ma:versionID="daef307b464132d04c5e67f42d2f8f60">
  <xsd:schema xmlns:xsd="http://www.w3.org/2001/XMLSchema" xmlns:xs="http://www.w3.org/2001/XMLSchema" xmlns:p="http://schemas.microsoft.com/office/2006/metadata/properties" xmlns:ns3="b9182305-36e2-4f60-9f86-1c7db1ffba19" targetNamespace="http://schemas.microsoft.com/office/2006/metadata/properties" ma:root="true" ma:fieldsID="f6a2a7add0409127d8f932c412b38200" ns3:_="">
    <xsd:import namespace="b9182305-36e2-4f60-9f86-1c7db1ffba1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BillingMetadata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82305-36e2-4f60-9f86-1c7db1ffba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44F972-C5D1-4AAE-B2A2-0EDA1CE48B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D17965-4AFC-4721-A382-C0465E91818B}">
  <ds:schemaRefs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b9182305-36e2-4f60-9f86-1c7db1ffba19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FB19FC-BDDA-4AFD-9150-A368E023EADD}">
  <ds:schemaRefs>
    <ds:schemaRef ds:uri="b9182305-36e2-4f60-9f86-1c7db1ffba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Grand écran</PresentationFormat>
  <Paragraphs>111</Paragraphs>
  <Slides>18</Slides>
  <Notes>18</Notes>
  <HiddenSlides>1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Aptos</vt:lpstr>
      <vt:lpstr>Arial</vt:lpstr>
      <vt:lpstr>Cambria Math</vt:lpstr>
      <vt:lpstr>DM Sans</vt:lpstr>
      <vt:lpstr>DM Sans Medium</vt:lpstr>
      <vt:lpstr>Nunito Light</vt:lpstr>
      <vt:lpstr>Outfit</vt:lpstr>
      <vt:lpstr>Data Collection and Analysis - Master of Science in Community Health and Prevention Research by Slidesgo</vt:lpstr>
      <vt:lpstr>Kalman Filtering approach for a differential drive robot Robotics Project</vt:lpstr>
      <vt:lpstr>Project overview and strategy</vt:lpstr>
      <vt:lpstr>Grabby: a warehouse robot</vt:lpstr>
      <vt:lpstr>Problem statement</vt:lpstr>
      <vt:lpstr>Problem statement</vt:lpstr>
      <vt:lpstr>Robot control flow chart</vt:lpstr>
      <vt:lpstr>Data generation for simulation</vt:lpstr>
      <vt:lpstr>A model to describe the robot</vt:lpstr>
      <vt:lpstr>A model to describe the robot</vt:lpstr>
      <vt:lpstr>Kalman Filter Implementation</vt:lpstr>
      <vt:lpstr>Results and performance</vt:lpstr>
      <vt:lpstr>Results</vt:lpstr>
      <vt:lpstr>Results</vt:lpstr>
      <vt:lpstr>Results</vt:lpstr>
      <vt:lpstr>Future development and implementation</vt:lpstr>
      <vt:lpstr>Improvements and implementation</vt:lpstr>
      <vt:lpstr>Thank you for your attention!</vt:lpstr>
      <vt:lpstr>A model to describe the robot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Julius Ortstadt</dc:creator>
  <cp:lastModifiedBy>Jeremy Hendrikse</cp:lastModifiedBy>
  <cp:revision>1</cp:revision>
  <dcterms:created xsi:type="dcterms:W3CDTF">2025-11-11T09:03:03Z</dcterms:created>
  <dcterms:modified xsi:type="dcterms:W3CDTF">2025-11-14T18:14:14Z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0x01010076E73F432E19A24A9C7B28E17502F0E9</vt:lpwstr>
  </property>
</Properties>
</file>